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f43d7b3f154d65" /><Relationship Type="http://schemas.openxmlformats.org/officeDocument/2006/relationships/extended-properties" Target="/docProps/app.xml" Id="R782626b3e3f84df5" /><Relationship Type="http://schemas.openxmlformats.org/officeDocument/2006/relationships/officeDocument" Target="/ppt/presentation.xml" Id="R8e28dacac55a48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589fe43aaa4ba3"/>
  </p:sldMasterIdLst>
  <p:notesMasterIdLst>
    <p:notesMasterId xmlns:r="http://schemas.openxmlformats.org/officeDocument/2006/relationships" r:id="R5e602207484649d9"/>
  </p:notesMasterIdLst>
  <p:sldIdLst>
    <p:sldId xmlns:r="http://schemas.openxmlformats.org/officeDocument/2006/relationships" id="256" r:id="Raf3a0ef3c0de42e8"/>
    <p:sldId xmlns:r="http://schemas.openxmlformats.org/officeDocument/2006/relationships" id="257" r:id="Rf8f76114e7cc4177"/>
    <p:sldId xmlns:r="http://schemas.openxmlformats.org/officeDocument/2006/relationships" id="258" r:id="Rf2b99f7a9cf94dd7"/>
    <p:sldId xmlns:r="http://schemas.openxmlformats.org/officeDocument/2006/relationships" id="259" r:id="Rb687a19854824a56"/>
    <p:sldId xmlns:r="http://schemas.openxmlformats.org/officeDocument/2006/relationships" id="260" r:id="Rf761a001417e46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a0cb3638394a0a" /><Relationship Type="http://schemas.openxmlformats.org/officeDocument/2006/relationships/slideMaster" Target="/ppt/slideMasters/slideMaster1.xml" Id="Rb7589fe43aaa4ba3" /><Relationship Type="http://schemas.openxmlformats.org/officeDocument/2006/relationships/notesMaster" Target="/ppt/notesMasters/notesMaster1.xml" Id="R5e602207484649d9" /><Relationship Type="http://schemas.openxmlformats.org/officeDocument/2006/relationships/presProps" Target="/ppt/presProps.xml" Id="R6e85295315804692" /><Relationship Type="http://schemas.openxmlformats.org/officeDocument/2006/relationships/viewProps" Target="/ppt/viewProps.xml" Id="Rb3b937275f1d416c" /><Relationship Type="http://schemas.openxmlformats.org/officeDocument/2006/relationships/tableStyles" Target="/ppt/tableStyles.xml" Id="Rd7433f94b63b4c2f" /><Relationship Type="http://schemas.openxmlformats.org/officeDocument/2006/relationships/slide" Target="/ppt/slides/slide1.xml" Id="Raf3a0ef3c0de42e8" /><Relationship Type="http://schemas.openxmlformats.org/officeDocument/2006/relationships/slide" Target="/ppt/slides/slide2.xml" Id="Rf8f76114e7cc4177" /><Relationship Type="http://schemas.openxmlformats.org/officeDocument/2006/relationships/slide" Target="/ppt/slides/slide3.xml" Id="Rf2b99f7a9cf94dd7" /><Relationship Type="http://schemas.openxmlformats.org/officeDocument/2006/relationships/slide" Target="/ppt/slides/slide4.xml" Id="Rb687a19854824a56" /><Relationship Type="http://schemas.openxmlformats.org/officeDocument/2006/relationships/slide" Target="/ppt/slides/slide5.xml" Id="Rf761a001417e46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749c852b4243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2186ad3e96407e" /><Relationship Type="http://schemas.openxmlformats.org/officeDocument/2006/relationships/notesMaster" Target="/ppt/notesMasters/notesMaster1.xml" Id="R65fb61fbb32e4d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6fc5ff132b4e0d" /><Relationship Type="http://schemas.openxmlformats.org/officeDocument/2006/relationships/notesMaster" Target="/ppt/notesMasters/notesMaster1.xml" Id="Rca6a2c60f19947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eea187495743ca" /><Relationship Type="http://schemas.openxmlformats.org/officeDocument/2006/relationships/notesMaster" Target="/ppt/notesMasters/notesMaster1.xml" Id="R6a87ec76b72e4a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bd5dadebb14c7c" /><Relationship Type="http://schemas.openxmlformats.org/officeDocument/2006/relationships/notesMaster" Target="/ppt/notesMasters/notesMaster1.xml" Id="R16f087ab44e742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d551c526b04b7c" /><Relationship Type="http://schemas.openxmlformats.org/officeDocument/2006/relationships/notesMaster" Target="/ppt/notesMasters/notesMaster1.xml" Id="Re04a4ee2c20b4b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7af77fe0a47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7291106530485e" /><Relationship Type="http://schemas.openxmlformats.org/officeDocument/2006/relationships/slideLayout" Target="/ppt/slideLayouts/slideLayout1.xml" Id="R687bdeaf0f124d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7bdeaf0f124d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68dcb9c1a4277" /><Relationship Type="http://schemas.openxmlformats.org/officeDocument/2006/relationships/image" Target="/ppt/media/image.png" Id="Re5427b6484224dd9" /><Relationship Type="http://schemas.openxmlformats.org/officeDocument/2006/relationships/image" Target="/ppt/media/image.svg" Id="Rebe88a98d3cc48e3" /><Relationship Type="http://schemas.openxmlformats.org/officeDocument/2006/relationships/image" Target="/ppt/media/image2.png" Id="R30def55f1e574568" /><Relationship Type="http://schemas.openxmlformats.org/officeDocument/2006/relationships/image" Target="/ppt/media/image2.svg" Id="R46f3a90785344f3f" /><Relationship Type="http://schemas.openxmlformats.org/officeDocument/2006/relationships/image" Target="/ppt/media/image3.png" Id="Ra2b45fb157be49a0" /><Relationship Type="http://schemas.openxmlformats.org/officeDocument/2006/relationships/image" Target="/ppt/media/image3.svg" Id="R47b9ebe565e543ef" /><Relationship Type="http://schemas.openxmlformats.org/officeDocument/2006/relationships/notesSlide" Target="/ppt/notesSlides/notesSlide1.xml" Id="Rd78a064bfafd4e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381242e5e4085" /><Relationship Type="http://schemas.openxmlformats.org/officeDocument/2006/relationships/image" Target="/ppt/media/image4.png" Id="R15678c082957434b" /><Relationship Type="http://schemas.openxmlformats.org/officeDocument/2006/relationships/image" Target="/ppt/media/image4.svg" Id="R44691441ebeb4135" /><Relationship Type="http://schemas.openxmlformats.org/officeDocument/2006/relationships/image" Target="/ppt/media/image5.png" Id="R3fc6edd04f8747b9" /><Relationship Type="http://schemas.openxmlformats.org/officeDocument/2006/relationships/image" Target="/ppt/media/image5.svg" Id="R11a2087474c94603" /><Relationship Type="http://schemas.openxmlformats.org/officeDocument/2006/relationships/image" Target="/ppt/media/image6.png" Id="R5aedd78e76ff4ca7" /><Relationship Type="http://schemas.openxmlformats.org/officeDocument/2006/relationships/image" Target="/ppt/media/image6.svg" Id="R47deb65470314bce" /><Relationship Type="http://schemas.openxmlformats.org/officeDocument/2006/relationships/image" Target="/ppt/media/image7.png" Id="R96fe27dfa63b443e" /><Relationship Type="http://schemas.openxmlformats.org/officeDocument/2006/relationships/image" Target="/ppt/media/image7.svg" Id="R798852b71ff54f63" /><Relationship Type="http://schemas.openxmlformats.org/officeDocument/2006/relationships/image" Target="/ppt/media/image8.png" Id="Rf5656a0aace941ea" /><Relationship Type="http://schemas.openxmlformats.org/officeDocument/2006/relationships/image" Target="/ppt/media/image8.svg" Id="Ra5138526a2ea4efa" /><Relationship Type="http://schemas.openxmlformats.org/officeDocument/2006/relationships/notesSlide" Target="/ppt/notesSlides/notesSlide2.xml" Id="R00f313bad0a440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cd2ff93a54b3a" /><Relationship Type="http://schemas.openxmlformats.org/officeDocument/2006/relationships/image" Target="/ppt/media/image9.png" Id="R536101152e1941c0" /><Relationship Type="http://schemas.openxmlformats.org/officeDocument/2006/relationships/image" Target="/ppt/media/image9.svg" Id="R9e2719fe40ed4ea7" /><Relationship Type="http://schemas.openxmlformats.org/officeDocument/2006/relationships/image" Target="/ppt/media/image10.png" Id="Rcc1dd879c8cf4e9a" /><Relationship Type="http://schemas.openxmlformats.org/officeDocument/2006/relationships/image" Target="/ppt/media/image10.svg" Id="R2d867e7414624938" /><Relationship Type="http://schemas.openxmlformats.org/officeDocument/2006/relationships/image" Target="/ppt/media/image11.png" Id="R237897c860274780" /><Relationship Type="http://schemas.openxmlformats.org/officeDocument/2006/relationships/image" Target="/ppt/media/image11.svg" Id="R4299762d5fce4475" /><Relationship Type="http://schemas.openxmlformats.org/officeDocument/2006/relationships/notesSlide" Target="/ppt/notesSlides/notesSlide3.xml" Id="Ra6a55ae617ef40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b2a7267ef41ee" /><Relationship Type="http://schemas.openxmlformats.org/officeDocument/2006/relationships/image" Target="/ppt/media/image12.png" Id="Rfe409b3f984f4253" /><Relationship Type="http://schemas.openxmlformats.org/officeDocument/2006/relationships/image" Target="/ppt/media/image12.svg" Id="R9834cb72209d42ec" /><Relationship Type="http://schemas.openxmlformats.org/officeDocument/2006/relationships/image" Target="/ppt/media/image13.png" Id="R4c914df63946412b" /><Relationship Type="http://schemas.openxmlformats.org/officeDocument/2006/relationships/image" Target="/ppt/media/image13.svg" Id="Rdfb0b2ca21ae4528" /><Relationship Type="http://schemas.openxmlformats.org/officeDocument/2006/relationships/image" Target="/ppt/media/image14.png" Id="R82f89dbb7b234d8c" /><Relationship Type="http://schemas.openxmlformats.org/officeDocument/2006/relationships/image" Target="/ppt/media/image14.svg" Id="R3d66d676db244d69" /><Relationship Type="http://schemas.openxmlformats.org/officeDocument/2006/relationships/notesSlide" Target="/ppt/notesSlides/notesSlide4.xml" Id="Rf44ec8e01e664c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71b19a2344d27" /><Relationship Type="http://schemas.openxmlformats.org/officeDocument/2006/relationships/image" Target="/ppt/media/image15.png" Id="Ra0487fd602db45f4" /><Relationship Type="http://schemas.openxmlformats.org/officeDocument/2006/relationships/image" Target="/ppt/media/image15.svg" Id="Rd8a9f0cd724c40eb" /><Relationship Type="http://schemas.openxmlformats.org/officeDocument/2006/relationships/image" Target="/ppt/media/image16.png" Id="R3d4c66ca5e3746b3" /><Relationship Type="http://schemas.openxmlformats.org/officeDocument/2006/relationships/image" Target="/ppt/media/image16.svg" Id="Rc9953008c8944ade" /><Relationship Type="http://schemas.openxmlformats.org/officeDocument/2006/relationships/image" Target="/ppt/media/image17.png" Id="Rddb4703b422f4348" /><Relationship Type="http://schemas.openxmlformats.org/officeDocument/2006/relationships/image" Target="/ppt/media/image17.svg" Id="R84fd2f494dbb4d8e" /><Relationship Type="http://schemas.openxmlformats.org/officeDocument/2006/relationships/notesSlide" Target="/ppt/notesSlides/notesSlide5.xml" Id="Rce8ea4e49dd643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03F6F3C-A96B-4DA4-A914-4B0E70E7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A"/>
          </a:solidFill>
          <a:ln xmlns:a="http://schemas.openxmlformats.org/drawingml/2006/main" w="0">
            <a:solidFill>
              <a:srgbClr val="FBF4EA"/>
            </a:solidFill>
          </a:ln>
        </p:spPr>
      </p:sp>
      <p:sp>
        <p:nvSpPr>
          <p:cNvPr id="2" name="orb-a">
            <a:extLst xmlns:a="http://schemas.openxmlformats.org/drawingml/2006/main">
              <a:ext uri="{FF2B5EF4-FFF2-40B4-BE49-F238E27FC236}">
                <a16:creationId xmlns:a16="http://schemas.microsoft.com/office/drawing/2014/main" id="{FFBB7F06-475B-4CC6-8AAF-D8825DFE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7000"/>
            </a:srgbClr>
          </a:solidFill>
          <a:ln xmlns:a="http://schemas.openxmlformats.org/drawingml/2006/main" w="0">
            <a:solidFill>
              <a:srgbClr val="1F7665">
                <a:alpha val="0"/>
              </a:srgbClr>
            </a:solidFill>
          </a:ln>
        </p:spPr>
      </p:sp>
      <p:sp>
        <p:nvSpPr>
          <p:cNvPr id="3" name="orb-b">
            <a:extLst xmlns:a="http://schemas.openxmlformats.org/drawingml/2006/main">
              <a:ext uri="{FF2B5EF4-FFF2-40B4-BE49-F238E27FC236}">
                <a16:creationId xmlns:a16="http://schemas.microsoft.com/office/drawing/2014/main" id="{AED08591-522B-456F-BD39-D548EA03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95250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3427">
              <a:alpha val="6000"/>
            </a:srgbClr>
          </a:solidFill>
          <a:ln xmlns:a="http://schemas.openxmlformats.org/drawingml/2006/main" w="0">
            <a:solidFill>
              <a:srgbClr val="443427">
                <a:alpha val="0"/>
              </a:srgbClr>
            </a:solidFill>
          </a:ln>
        </p:spPr>
      </p:sp>
      <p:sp>
        <p:nvSpPr>
          <p:cNvPr id="4" name="orb-c">
            <a:extLst xmlns:a="http://schemas.openxmlformats.org/drawingml/2006/main">
              <a:ext uri="{FF2B5EF4-FFF2-40B4-BE49-F238E27FC236}">
                <a16:creationId xmlns:a16="http://schemas.microsoft.com/office/drawing/2014/main" id="{2F4AD4E5-D9CF-46C1-AE44-D2081DB8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5000"/>
            </a:srgbClr>
          </a:solidFill>
          <a:ln xmlns:a="http://schemas.openxmlformats.org/drawingml/2006/main" w="0">
            <a:solidFill>
              <a:srgbClr val="1F7665">
                <a:alpha val="0"/>
              </a:srgbClr>
            </a:solidFill>
          </a:ln>
        </p:spPr>
      </p:sp>
      <p:sp>
        <p:nvSpPr>
          <p:cNvPr id="5" name="kicker-dot">
            <a:extLst xmlns:a="http://schemas.openxmlformats.org/drawingml/2006/main">
              <a:ext uri="{FF2B5EF4-FFF2-40B4-BE49-F238E27FC236}">
                <a16:creationId xmlns:a16="http://schemas.microsoft.com/office/drawing/2014/main" id="{E5A5225C-505E-4C49-9C58-0DE4D2FA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/>
          </a:solidFill>
          <a:ln xmlns:a="http://schemas.openxmlformats.org/drawingml/2006/main" w="0">
            <a:solidFill>
              <a:srgbClr val="1F7665"/>
            </a:solidFill>
          </a:ln>
        </p:spPr>
      </p:sp>
      <p:sp>
        <p:nvSpPr>
          <p:cNvPr id="6" name="kicker-text">
            <a:extLst xmlns:a="http://schemas.openxmlformats.org/drawingml/2006/main">
              <a:ext uri="{FF2B5EF4-FFF2-40B4-BE49-F238E27FC236}">
                <a16:creationId xmlns:a16="http://schemas.microsoft.com/office/drawing/2014/main" id="{713194E2-47B1-408E-ABA9-C0A0EAAC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PROJET DE SOUTENANCE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2D18C81-4947-48BA-8FE9-BE6849F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81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Un seul système pour réserver, accueillir et tracer.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9C828BAE-A02E-4D0C-83E7-03B24025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Flutter gère le terrain, Laravel garde la logique métier, et le dashboard rend les actions lisibles en temps réel.</a:t>
            </a:r>
          </a:p>
        </p:txBody>
      </p:sp>
      <p:sp>
        <p:nvSpPr>
          <p:cNvPr id="9" name="pill-Flutter">
            <a:extLst xmlns:a="http://schemas.openxmlformats.org/drawingml/2006/main">
              <a:ext uri="{FF2B5EF4-FFF2-40B4-BE49-F238E27FC236}">
                <a16:creationId xmlns:a16="http://schemas.microsoft.com/office/drawing/2014/main" id="{68EC3116-3DB8-4646-A4F0-2B609565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33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F7665">
              <a:alpha val="12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0" name="pill-text-Flutter">
            <a:extLst xmlns:a="http://schemas.openxmlformats.org/drawingml/2006/main">
              <a:ext uri="{FF2B5EF4-FFF2-40B4-BE49-F238E27FC236}">
                <a16:creationId xmlns:a16="http://schemas.microsoft.com/office/drawing/2014/main" id="{86E533C1-D8C7-445C-9CFA-75AB328F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Flutter</a:t>
            </a:r>
          </a:p>
        </p:txBody>
      </p:sp>
      <p:sp>
        <p:nvSpPr>
          <p:cNvPr id="11" name="pill-Laravel">
            <a:extLst xmlns:a="http://schemas.openxmlformats.org/drawingml/2006/main">
              <a:ext uri="{FF2B5EF4-FFF2-40B4-BE49-F238E27FC236}">
                <a16:creationId xmlns:a16="http://schemas.microsoft.com/office/drawing/2014/main" id="{3F404224-A1B2-43F3-BBA2-2EC71E85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00250"/>
            <a:ext cx="933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31F1B">
              <a:alpha val="5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2" name="pill-text-Laravel">
            <a:extLst xmlns:a="http://schemas.openxmlformats.org/drawingml/2006/main">
              <a:ext uri="{FF2B5EF4-FFF2-40B4-BE49-F238E27FC236}">
                <a16:creationId xmlns:a16="http://schemas.microsoft.com/office/drawing/2014/main" id="{635F2D8A-2920-4D7F-9674-4A7F6615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574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Laravel</a:t>
            </a:r>
          </a:p>
        </p:txBody>
      </p:sp>
      <p:sp>
        <p:nvSpPr>
          <p:cNvPr id="13" name="pill-Dashboard">
            <a:extLst xmlns:a="http://schemas.openxmlformats.org/drawingml/2006/main">
              <a:ext uri="{FF2B5EF4-FFF2-40B4-BE49-F238E27FC236}">
                <a16:creationId xmlns:a16="http://schemas.microsoft.com/office/drawing/2014/main" id="{7CCF2CED-0B9E-45AC-8A43-AD4158C0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1028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43427">
              <a:alpha val="8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4" name="pill-text-Dashboard">
            <a:extLst xmlns:a="http://schemas.openxmlformats.org/drawingml/2006/main">
              <a:ext uri="{FF2B5EF4-FFF2-40B4-BE49-F238E27FC236}">
                <a16:creationId xmlns:a16="http://schemas.microsoft.com/office/drawing/2014/main" id="{9C7E8C6A-7459-4F88-80F1-7FEFBE1D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574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AFB02962-B0E0-46C8-92BB-285D0F1E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457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EFE3">
              <a:alpha val="96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6" name="Ce que le projet évite-head">
            <a:extLst xmlns:a="http://schemas.openxmlformats.org/drawingml/2006/main">
              <a:ext uri="{FF2B5EF4-FFF2-40B4-BE49-F238E27FC236}">
                <a16:creationId xmlns:a16="http://schemas.microsoft.com/office/drawing/2014/main" id="{00BB7B22-7056-4920-8BDC-678E2C2C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Ce que le projet évite</a:t>
            </a:r>
          </a:p>
        </p:txBody>
      </p:sp>
      <p:sp>
        <p:nvSpPr>
          <p:cNvPr id="17" name="Ce que le projet évite-body">
            <a:extLst xmlns:a="http://schemas.openxmlformats.org/drawingml/2006/main">
              <a:ext uri="{FF2B5EF4-FFF2-40B4-BE49-F238E27FC236}">
                <a16:creationId xmlns:a16="http://schemas.microsoft.com/office/drawing/2014/main" id="{3BB0A35F-C3E5-457A-B60A-CB52BE46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Les doublons de saisie, les réservations sans contexte, et les actions qu’on ne peut plus expliquer après coup.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80C9A1F0-65ED-4C7B-89B3-D248CBFF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7665">
              <a:alpha val="9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9" name="Ce que l’interface montre-head">
            <a:extLst xmlns:a="http://schemas.openxmlformats.org/drawingml/2006/main">
              <a:ext uri="{FF2B5EF4-FFF2-40B4-BE49-F238E27FC236}">
                <a16:creationId xmlns:a16="http://schemas.microsoft.com/office/drawing/2014/main" id="{D4C5696D-E6F3-4EB2-ABE9-CF53A86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293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Ce que l’interface montre</a:t>
            </a:r>
          </a:p>
        </p:txBody>
      </p:sp>
      <p:sp>
        <p:nvSpPr>
          <p:cNvPr id="20" name="Ce que l’interface montre-body">
            <a:extLst xmlns:a="http://schemas.openxmlformats.org/drawingml/2006/main">
              <a:ext uri="{FF2B5EF4-FFF2-40B4-BE49-F238E27FC236}">
                <a16:creationId xmlns:a16="http://schemas.microsoft.com/office/drawing/2014/main" id="{972CB2C5-451C-40E2-A058-5DAD4B03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93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Qui a pris, qui a fait le check-in, qui a encaissé, qui a modifié, et combien il reste à payer.</a:t>
            </a:r>
          </a:p>
        </p:txBody>
      </p:sp>
      <p:sp>
        <p:nvSpPr>
          <p:cNvPr id="21" name="phone-body">
            <a:extLst xmlns:a="http://schemas.openxmlformats.org/drawingml/2006/main">
              <a:ext uri="{FF2B5EF4-FFF2-40B4-BE49-F238E27FC236}">
                <a16:creationId xmlns:a16="http://schemas.microsoft.com/office/drawing/2014/main" id="{7E9A6C66-5F1B-49EA-BD18-7BA88A33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1905000" cy="4095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F1A17"/>
          </a:solidFill>
          <a:ln xmlns:a="http://schemas.openxmlformats.org/drawingml/2006/main" w="0">
            <a:solidFill>
              <a:srgbClr val="1F1A17"/>
            </a:solidFill>
          </a:ln>
        </p:spPr>
      </p:sp>
      <p:sp>
        <p:nvSpPr>
          <p:cNvPr id="22" name="phone-screen">
            <a:extLst xmlns:a="http://schemas.openxmlformats.org/drawingml/2006/main">
              <a:ext uri="{FF2B5EF4-FFF2-40B4-BE49-F238E27FC236}">
                <a16:creationId xmlns:a16="http://schemas.microsoft.com/office/drawing/2014/main" id="{43D06901-F834-4995-BD75-7D5CA440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76350"/>
            <a:ext cx="1752600" cy="3867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E3D4C0"/>
            </a:solidFill>
          </a:ln>
        </p:spPr>
      </p:sp>
      <p:sp>
        <p:nvSpPr>
          <p:cNvPr id="23" name="phone-speaker">
            <a:extLst xmlns:a="http://schemas.openxmlformats.org/drawingml/2006/main">
              <a:ext uri="{FF2B5EF4-FFF2-40B4-BE49-F238E27FC236}">
                <a16:creationId xmlns:a16="http://schemas.microsoft.com/office/drawing/2014/main" id="{B800435A-C6D4-4F63-86AD-A0C6B473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81100"/>
            <a:ext cx="3429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443D"/>
          </a:solidFill>
          <a:ln xmlns:a="http://schemas.openxmlformats.org/drawingml/2006/main" w="0">
            <a:solidFill>
              <a:srgbClr val="4B44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03D45-1591-48BD-BDAB-348C4D4A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14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Nouvelle arrivée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27b6484224dd9">
            <a:extLst>
              <a:ext uri="{96DAC541-7B7A-43D3-8B79-37D633B846F1}">
                <asvg:svgBlip xmlns:asvg="http://schemas.microsoft.com/office/drawing/2016/SVG/main" r:embed="Rebe88a98d3cc48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53300" y="15716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404BC6-A530-4A6A-B73C-4006B927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18/06 à 19/06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ef55f1e574568">
            <a:extLst>
              <a:ext uri="{96DAC541-7B7A-43D3-8B79-37D633B846F1}">
                <asvg:svgBlip xmlns:asvg="http://schemas.microsoft.com/office/drawing/2016/SVG/main" r:embed="R46f3a90785344f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53300" y="18669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856F4-2907-4C78-99E7-AFAB006E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573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Chambre 02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45fb157be49a0">
            <a:extLst>
              <a:ext uri="{96DAC541-7B7A-43D3-8B79-37D633B846F1}">
                <asvg:svgBlip xmlns:asvg="http://schemas.microsoft.com/office/drawing/2016/SVG/main" r:embed="R47b9ebe565e543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53300" y="21621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83A598-B6DB-4B5E-977F-6597955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Reste à payer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77357-29E7-4664-AF26-AC943596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562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F7665">
              <a:alpha val="10000"/>
            </a:srgbClr>
          </a:solidFill>
          <a:ln xmlns:a="http://schemas.openxmlformats.org/drawingml/2006/main" w="9525">
            <a:solidFill>
              <a:srgbClr val="1F7665">
                <a:alpha val="1800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A44713-6A84-455C-918D-967B734E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860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Audit visible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ADADFE-7EE1-4F3D-8CD0-4B7C3B72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Modifié par • Check-in par • Paiement par</a:t>
            </a:r>
          </a:p>
        </p:txBody>
      </p:sp>
      <p:sp>
        <p:nvSpPr>
          <p:cNvPr id="34" name="card">
            <a:extLst xmlns:a="http://schemas.openxmlformats.org/drawingml/2006/main">
              <a:ext uri="{FF2B5EF4-FFF2-40B4-BE49-F238E27FC236}">
                <a16:creationId xmlns:a16="http://schemas.microsoft.com/office/drawing/2014/main" id="{CEEDABA5-0A68-494E-AEF0-D2CCBCA2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12395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35" name="dash-header">
            <a:extLst xmlns:a="http://schemas.openxmlformats.org/drawingml/2006/main">
              <a:ext uri="{FF2B5EF4-FFF2-40B4-BE49-F238E27FC236}">
                <a16:creationId xmlns:a16="http://schemas.microsoft.com/office/drawing/2014/main" id="{84C638B2-8ADD-4A2B-AC1D-D2C772B0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276350"/>
            <a:ext cx="2647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FE5D5"/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36" name="dash-title">
            <a:extLst xmlns:a="http://schemas.openxmlformats.org/drawingml/2006/main">
              <a:ext uri="{FF2B5EF4-FFF2-40B4-BE49-F238E27FC236}">
                <a16:creationId xmlns:a16="http://schemas.microsoft.com/office/drawing/2014/main" id="{1B73EDE9-79FE-4DDC-AF17-44057876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23975"/>
            <a:ext cx="228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Salon des arrivées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D9DC3C-A230-4495-8DE6-E27C5717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24000"/>
            <a:ext cx="704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7665">
              <a:alpha val="10000"/>
            </a:srgbClr>
          </a:solidFill>
          <a:ln xmlns:a="http://schemas.openxmlformats.org/drawingml/2006/main" w="9525">
            <a:solidFill>
              <a:srgbClr val="1F7665">
                <a:alpha val="1200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05B22D-6F1A-4CEC-B58C-44B6FDED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704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31F1B">
              <a:alpha val="5000"/>
            </a:srgbClr>
          </a:solidFill>
          <a:ln xmlns:a="http://schemas.openxmlformats.org/drawingml/2006/main" w="9525">
            <a:solidFill>
              <a:srgbClr val="443427">
                <a:alpha val="1200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E39053-A122-43EB-9F7A-E9C49F4E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524000"/>
            <a:ext cx="704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BE123C">
              <a:alpha val="8000"/>
            </a:srgbClr>
          </a:solidFill>
          <a:ln xmlns:a="http://schemas.openxmlformats.org/drawingml/2006/main" w="9525">
            <a:solidFill>
              <a:srgbClr val="BE123C">
                <a:alpha val="1200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130C32-CD61-4D3D-B0D8-90DCD900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954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AADC1B-5BA4-45C4-989B-4ADECD34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6954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A185F0-6FB1-4ACE-BB17-4AF005BA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6954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1170EF-00C9-442C-A2E0-42588AC0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arrivées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5B8000-560F-468C-972C-29A5F529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193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paiements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F4ACD1-FB61-44C8-9DC5-8FE122D1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193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modifications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427954-91F5-4B17-9AC4-0D265D89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552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>
              <a:alpha val="76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0CDDD0-A1DD-4F00-8E44-1E881C91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1125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Le tableau devient un salon d’arrivée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24C4A6-68C0-402E-8622-AFADC3B4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575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L’idée n’est pas juste d’afficher des lignes. Il faut comprendre qui agit, sur quoi, et ce qui reste à régler.</a:t>
            </a:r>
          </a:p>
        </p:txBody>
      </p:sp>
      <p:sp>
        <p:nvSpPr>
          <p:cNvPr id="4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7047892-4EF2-49B4-8A78-0C2A0936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427">
              <a:alpha val="10000"/>
            </a:srgbClr>
          </a:solidFill>
          <a:ln xmlns:a="http://schemas.openxmlformats.org/drawingml/2006/main" w="0">
            <a:solidFill>
              <a:srgbClr val="443427">
                <a:alpha val="10000"/>
              </a:srgbClr>
            </a:solidFill>
          </a:ln>
        </p:spPr>
      </p:sp>
      <p:sp>
        <p:nvSpPr>
          <p:cNvPr id="5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30FBF12-9229-463E-A706-DC2470BD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Hestia Predict</a:t>
            </a:r>
          </a:p>
        </p:txBody>
      </p:sp>
      <p:sp>
        <p:nvSpPr>
          <p:cNvPr id="51" name="footer-mode">
            <a:extLst xmlns:a="http://schemas.openxmlformats.org/drawingml/2006/main">
              <a:ext uri="{FF2B5EF4-FFF2-40B4-BE49-F238E27FC236}">
                <a16:creationId xmlns:a16="http://schemas.microsoft.com/office/drawing/2014/main" id="{F81C2020-51E9-4A16-9D87-BD9FE567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Version commentaire</a:t>
            </a:r>
          </a:p>
        </p:txBody>
      </p:sp>
      <p:sp>
        <p:nvSpPr>
          <p:cNvPr id="52" name="script-band">
            <a:extLst xmlns:a="http://schemas.openxmlformats.org/drawingml/2006/main">
              <a:ext uri="{FF2B5EF4-FFF2-40B4-BE49-F238E27FC236}">
                <a16:creationId xmlns:a16="http://schemas.microsoft.com/office/drawing/2014/main" id="{F760FF5F-E1A8-4036-AB58-EA29AAC3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F1B">
              <a:alpha val="95000"/>
            </a:srgbClr>
          </a:solidFill>
          <a:ln xmlns:a="http://schemas.openxmlformats.org/drawingml/2006/main" w="0">
            <a:solidFill>
              <a:srgbClr val="231F1B">
                <a:alpha val="95000"/>
              </a:srgbClr>
            </a:solidFill>
          </a:ln>
        </p:spPr>
      </p:sp>
      <p:sp>
        <p:nvSpPr>
          <p:cNvPr id="53" name="script-label">
            <a:extLst xmlns:a="http://schemas.openxmlformats.org/drawingml/2006/main">
              <a:ext uri="{FF2B5EF4-FFF2-40B4-BE49-F238E27FC236}">
                <a16:creationId xmlns:a16="http://schemas.microsoft.com/office/drawing/2014/main" id="{AE993CF0-5791-45CB-9A3A-39D18ED6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9D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D9C5"/>
                </a:solidFill>
                <a:latin typeface="Aptos"/>
                <a:ea typeface="Aptos"/>
                <a:cs typeface="Aptos"/>
              </a:rPr>
              <a:t>À DIRE</a:t>
            </a:r>
          </a:p>
        </p:txBody>
      </p:sp>
      <p:sp>
        <p:nvSpPr>
          <p:cNvPr id="54" name="script-text">
            <a:extLst xmlns:a="http://schemas.openxmlformats.org/drawingml/2006/main">
              <a:ext uri="{FF2B5EF4-FFF2-40B4-BE49-F238E27FC236}">
                <a16:creationId xmlns:a16="http://schemas.microsoft.com/office/drawing/2014/main" id="{9E1A2D22-4DF9-488C-BF7B-0BB5E4E6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6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6EB"/>
                </a:solidFill>
                <a:latin typeface="Aptos"/>
                <a:ea typeface="Aptos"/>
                <a:cs typeface="Aptos"/>
              </a:rPr>
              <a:t>Je présente un système en trois couches: Flutter pour saisir et modifier au comptoir, Laravel pour tenir la logique et les audits, et un dashboard qui rend tout ça lisible. L’idée générale, c’est simple: éviter les angles morts quand une réservation bouge.</a:t>
            </a:r>
          </a:p>
        </p:txBody>
      </p:sp>
    </p:spTree>
    <p:extLst>
      <p:ext uri="{BB962C8B-B14F-4D97-AF65-F5344CB8AC3E}">
        <p14:creationId xmlns:p14="http://schemas.microsoft.com/office/powerpoint/2010/main" val="13907874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67DE761-EB37-4FEF-AEAC-A8C4A65A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A"/>
          </a:solidFill>
          <a:ln xmlns:a="http://schemas.openxmlformats.org/drawingml/2006/main" w="0">
            <a:solidFill>
              <a:srgbClr val="FBF4EA"/>
            </a:solidFill>
          </a:ln>
        </p:spPr>
      </p:sp>
      <p:sp>
        <p:nvSpPr>
          <p:cNvPr id="2" name="orb-a">
            <a:extLst xmlns:a="http://schemas.openxmlformats.org/drawingml/2006/main">
              <a:ext uri="{FF2B5EF4-FFF2-40B4-BE49-F238E27FC236}">
                <a16:creationId xmlns:a16="http://schemas.microsoft.com/office/drawing/2014/main" id="{55B84AD1-74DE-4A14-B5BB-D3C7AD7C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7000"/>
            </a:srgbClr>
          </a:solidFill>
          <a:ln xmlns:a="http://schemas.openxmlformats.org/drawingml/2006/main" w="0">
            <a:solidFill>
              <a:srgbClr val="1F7665">
                <a:alpha val="0"/>
              </a:srgbClr>
            </a:solidFill>
          </a:ln>
        </p:spPr>
      </p:sp>
      <p:sp>
        <p:nvSpPr>
          <p:cNvPr id="3" name="orb-b">
            <a:extLst xmlns:a="http://schemas.openxmlformats.org/drawingml/2006/main">
              <a:ext uri="{FF2B5EF4-FFF2-40B4-BE49-F238E27FC236}">
                <a16:creationId xmlns:a16="http://schemas.microsoft.com/office/drawing/2014/main" id="{885D4C6F-5B74-4D7C-98F1-DAF0FF6E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95250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3427">
              <a:alpha val="6000"/>
            </a:srgbClr>
          </a:solidFill>
          <a:ln xmlns:a="http://schemas.openxmlformats.org/drawingml/2006/main" w="0">
            <a:solidFill>
              <a:srgbClr val="443427">
                <a:alpha val="0"/>
              </a:srgbClr>
            </a:solidFill>
          </a:ln>
        </p:spPr>
      </p:sp>
      <p:sp>
        <p:nvSpPr>
          <p:cNvPr id="4" name="orb-c">
            <a:extLst xmlns:a="http://schemas.openxmlformats.org/drawingml/2006/main">
              <a:ext uri="{FF2B5EF4-FFF2-40B4-BE49-F238E27FC236}">
                <a16:creationId xmlns:a16="http://schemas.microsoft.com/office/drawing/2014/main" id="{37CD4DE8-4ECD-41EB-8F17-1C2167D4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5000"/>
            </a:srgbClr>
          </a:solidFill>
          <a:ln xmlns:a="http://schemas.openxmlformats.org/drawingml/2006/main" w="0">
            <a:solidFill>
              <a:srgbClr val="1F7665">
                <a:alpha val="0"/>
              </a:srgbClr>
            </a:solidFill>
          </a:ln>
        </p:spPr>
      </p:sp>
      <p:sp>
        <p:nvSpPr>
          <p:cNvPr id="5" name="kicker-dot">
            <a:extLst xmlns:a="http://schemas.openxmlformats.org/drawingml/2006/main">
              <a:ext uri="{FF2B5EF4-FFF2-40B4-BE49-F238E27FC236}">
                <a16:creationId xmlns:a16="http://schemas.microsoft.com/office/drawing/2014/main" id="{1C97465F-558A-4160-A272-6CB5CFED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/>
          </a:solidFill>
          <a:ln xmlns:a="http://schemas.openxmlformats.org/drawingml/2006/main" w="0">
            <a:solidFill>
              <a:srgbClr val="1F7665"/>
            </a:solidFill>
          </a:ln>
        </p:spPr>
      </p:sp>
      <p:sp>
        <p:nvSpPr>
          <p:cNvPr id="6" name="kicker-text">
            <a:extLst xmlns:a="http://schemas.openxmlformats.org/drawingml/2006/main">
              <a:ext uri="{FF2B5EF4-FFF2-40B4-BE49-F238E27FC236}">
                <a16:creationId xmlns:a16="http://schemas.microsoft.com/office/drawing/2014/main" id="{1B4D7DA3-58A6-46E6-AFE5-998B1985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DAEE084-8293-468D-B834-BEA6F592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628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Trois blocs, mais un seul flux métier qui tient la route.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F40673AD-03FC-480F-A9B5-04BA0D4E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28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L’app terrain, le backend Laravel et le dashboard partagent la même réservation. Ça évite les vues parallèles qui se contredisent.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DCF26CDA-C2AD-4CB6-A566-F995DE7C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200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F7665">
              <a:alpha val="8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2E9E8C39-12A9-4C0F-8F29-8EDC280C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33625"/>
            <a:ext cx="3200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C05D5B56-A6D4-46CC-8FD4-2ADB80F5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33625"/>
            <a:ext cx="3200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231F1B">
              <a:alpha val="4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78c082957434b">
            <a:extLst>
              <a:ext uri="{96DAC541-7B7A-43D3-8B79-37D633B846F1}">
                <asvg:svgBlip xmlns:asvg="http://schemas.microsoft.com/office/drawing/2016/SVG/main" r:embed="R44691441ebeb41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25050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35286-926B-45AB-8C23-67A9DF48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050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Flutter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98AEC-61C4-49F3-9DFB-0824D7F2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Réserver, modifier, check-in, ajouter une chambre ou un supplément. Le terrain doit aller vite, sans écrire de code contourné.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8833C-3900-44FB-B20B-0E90C515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2819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76000"/>
            </a:srgbClr>
          </a:solidFill>
          <a:ln xmlns:a="http://schemas.openxmlformats.org/drawingml/2006/main" w="9525">
            <a:solidFill>
              <a:srgbClr val="1F7665">
                <a:alpha val="1600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A2727-90AA-4A13-963E-6F391AB6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Ce que le mobile manipule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50C55-ECB7-4008-99D2-52EE9C35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95725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Client, chambres, dates, suppléments, paiement simple.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6edd04f8747b9">
            <a:extLst>
              <a:ext uri="{96DAC541-7B7A-43D3-8B79-37D633B846F1}">
                <asvg:svgBlip xmlns:asvg="http://schemas.microsoft.com/office/drawing/2016/SVG/main" r:embed="R11a2087474c946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67200" y="25050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008AB-9436-4E14-B8BC-5666E9CA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050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Laravel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FA41E-CBB8-42C9-AFAE-019DB283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C’est là que la vérité métier vit: audits, règles d’édition, états de réservation, historiques clients et facturation.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8579A-C80C-4E87-A724-516F7EA6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52825"/>
            <a:ext cx="2819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F4EA">
              <a:alpha val="96000"/>
            </a:srgbClr>
          </a:solidFill>
          <a:ln xmlns:a="http://schemas.openxmlformats.org/drawingml/2006/main" w="9525">
            <a:solidFill>
              <a:srgbClr val="443427">
                <a:alpha val="12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9185F-8B20-4B45-82A6-232C2666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8617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Services principaux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B92AA-B59E-464D-A2B8-B0D36FFF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95725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BookingService, PMSController, audit des actions.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dd78e76ff4ca7">
            <a:extLst>
              <a:ext uri="{96DAC541-7B7A-43D3-8B79-37D633B846F1}">
                <asvg:svgBlip xmlns:asvg="http://schemas.microsoft.com/office/drawing/2016/SVG/main" r:embed="R47deb65470314b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34300" y="25050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F5E127-1CBF-4DC1-AACF-191383BE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050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1EB73-2E2B-4243-8F6B-CE96E032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67025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 tableau de bord découpe le salon d’arrivée pour qu’on voie immédiatement l’état de chaque étape sans fouiller les réservations.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7C7B9-E365-43E6-908A-9D7C1D74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52825"/>
            <a:ext cx="2819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443427">
                <a:alpha val="1200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E2A3BB-9829-4DE9-922D-CE283E0D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8617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Lecture métier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1D67F-E4FA-40F2-B40C-CE606499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95725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Pris par, check-in, paiement, acompte, reste à payer.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E01787-26E0-4BF3-B46E-BC5D3E4A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5280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7665">
              <a:alpha val="12000"/>
            </a:srgbClr>
          </a:solidFill>
          <a:ln xmlns:a="http://schemas.openxmlformats.org/drawingml/2006/main" w="9525">
            <a:solidFill>
              <a:srgbClr val="1F7665">
                <a:alpha val="1500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94F963-7AE0-41CD-AFE4-70430093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290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978FBC-4AE2-4731-809A-871BA4F7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1F1B">
              <a:alpha val="6000"/>
            </a:srgbClr>
          </a:solidFill>
          <a:ln xmlns:a="http://schemas.openxmlformats.org/drawingml/2006/main" w="9525">
            <a:solidFill>
              <a:srgbClr val="443427">
                <a:alpha val="1200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6FD19E-90C4-4422-80F4-E79C86EB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290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e27dfa63b443e">
            <a:extLst>
              <a:ext uri="{96DAC541-7B7A-43D3-8B79-37D633B846F1}">
                <asvg:svgBlip xmlns:asvg="http://schemas.microsoft.com/office/drawing/2016/SVG/main" r:embed="R798852b71ff54f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33432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56a0aace941ea">
            <a:extLst>
              <a:ext uri="{96DAC541-7B7A-43D3-8B79-37D633B846F1}">
                <asvg:svgBlip xmlns:asvg="http://schemas.microsoft.com/office/drawing/2016/SVG/main" r:embed="Ra5138526a2ea4e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58150" y="33432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6" name="card">
            <a:extLst xmlns:a="http://schemas.openxmlformats.org/drawingml/2006/main">
              <a:ext uri="{FF2B5EF4-FFF2-40B4-BE49-F238E27FC236}">
                <a16:creationId xmlns:a16="http://schemas.microsoft.com/office/drawing/2014/main" id="{B871B8FF-70B2-4B4C-B99A-1C307E4B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3429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EFE3">
              <a:alpha val="96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37" name="Ce que ça change-head">
            <a:extLst xmlns:a="http://schemas.openxmlformats.org/drawingml/2006/main">
              <a:ext uri="{FF2B5EF4-FFF2-40B4-BE49-F238E27FC236}">
                <a16:creationId xmlns:a16="http://schemas.microsoft.com/office/drawing/2014/main" id="{476E5220-CCF9-4D94-8467-67B22B26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Ce que ça change</a:t>
            </a:r>
          </a:p>
        </p:txBody>
      </p:sp>
      <p:sp>
        <p:nvSpPr>
          <p:cNvPr id="38" name="Ce que ça change-body">
            <a:extLst xmlns:a="http://schemas.openxmlformats.org/drawingml/2006/main">
              <a:ext uri="{FF2B5EF4-FFF2-40B4-BE49-F238E27FC236}">
                <a16:creationId xmlns:a16="http://schemas.microsoft.com/office/drawing/2014/main" id="{E854AD0D-9D40-4F99-820D-19841168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312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On ne duplique pas la logique dans trois endroits. Une action est créée une fois, puis elle remonte partout avec la même signification.</a:t>
            </a:r>
          </a:p>
        </p:txBody>
      </p:sp>
      <p:sp>
        <p:nvSpPr>
          <p:cNvPr id="39" name="card">
            <a:extLst xmlns:a="http://schemas.openxmlformats.org/drawingml/2006/main">
              <a:ext uri="{FF2B5EF4-FFF2-40B4-BE49-F238E27FC236}">
                <a16:creationId xmlns:a16="http://schemas.microsoft.com/office/drawing/2014/main" id="{D3F04534-0132-464B-82BA-FFCC0502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72050"/>
            <a:ext cx="3429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F7665">
              <a:alpha val="9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40" name="Ce que ça rend possible-head">
            <a:extLst xmlns:a="http://schemas.openxmlformats.org/drawingml/2006/main">
              <a:ext uri="{FF2B5EF4-FFF2-40B4-BE49-F238E27FC236}">
                <a16:creationId xmlns:a16="http://schemas.microsoft.com/office/drawing/2014/main" id="{3C6AE2E0-A2FA-4150-952C-3AB898D6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0540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Ce que ça rend possible</a:t>
            </a:r>
          </a:p>
        </p:txBody>
      </p:sp>
      <p:sp>
        <p:nvSpPr>
          <p:cNvPr id="41" name="Ce que ça rend possible-body">
            <a:extLst xmlns:a="http://schemas.openxmlformats.org/drawingml/2006/main">
              <a:ext uri="{FF2B5EF4-FFF2-40B4-BE49-F238E27FC236}">
                <a16:creationId xmlns:a16="http://schemas.microsoft.com/office/drawing/2014/main" id="{43E201BF-500E-4D81-A8A2-DCD1B48A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312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Une réservation modifiée après arrivée reste lisible, mais les champs client ne bougent plus n’importe comment.</a:t>
            </a:r>
          </a:p>
        </p:txBody>
      </p:sp>
      <p:sp>
        <p:nvSpPr>
          <p:cNvPr id="42" name="card">
            <a:extLst xmlns:a="http://schemas.openxmlformats.org/drawingml/2006/main">
              <a:ext uri="{FF2B5EF4-FFF2-40B4-BE49-F238E27FC236}">
                <a16:creationId xmlns:a16="http://schemas.microsoft.com/office/drawing/2014/main" id="{3D6869C3-998C-4FFB-A5C0-59FA77DC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72050"/>
            <a:ext cx="3848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EFE3">
              <a:alpha val="96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43" name="Ce que le dashboard exploite-head">
            <a:extLst xmlns:a="http://schemas.openxmlformats.org/drawingml/2006/main">
              <a:ext uri="{FF2B5EF4-FFF2-40B4-BE49-F238E27FC236}">
                <a16:creationId xmlns:a16="http://schemas.microsoft.com/office/drawing/2014/main" id="{52D0B034-359C-4F33-BD91-D61C8631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05400"/>
            <a:ext cx="3543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Ce que le dashboard exploite</a:t>
            </a:r>
          </a:p>
        </p:txBody>
      </p:sp>
      <p:sp>
        <p:nvSpPr>
          <p:cNvPr id="44" name="Ce que le dashboard exploite-body">
            <a:extLst xmlns:a="http://schemas.openxmlformats.org/drawingml/2006/main">
              <a:ext uri="{FF2B5EF4-FFF2-40B4-BE49-F238E27FC236}">
                <a16:creationId xmlns:a16="http://schemas.microsoft.com/office/drawing/2014/main" id="{EB171D80-C9D6-4F66-B522-4F1FC3E8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3400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Les mêmes données servent au salon des arrivées, à l’historique complet et au tri par séjour, solde ou montant.</a:t>
            </a:r>
          </a:p>
        </p:txBody>
      </p:sp>
      <p:sp>
        <p:nvSpPr>
          <p:cNvPr id="4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F7F2EB2-17F6-4A01-8CD8-7C5F4E11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427">
              <a:alpha val="10000"/>
            </a:srgbClr>
          </a:solidFill>
          <a:ln xmlns:a="http://schemas.openxmlformats.org/drawingml/2006/main" w="0">
            <a:solidFill>
              <a:srgbClr val="443427">
                <a:alpha val="10000"/>
              </a:srgbClr>
            </a:solidFill>
          </a:ln>
        </p:spPr>
      </p:sp>
      <p:sp>
        <p:nvSpPr>
          <p:cNvPr id="4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4493B70-781D-45AC-B501-FA856A88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Hestia Predict</a:t>
            </a:r>
          </a:p>
        </p:txBody>
      </p:sp>
      <p:sp>
        <p:nvSpPr>
          <p:cNvPr id="47" name="footer-mode">
            <a:extLst xmlns:a="http://schemas.openxmlformats.org/drawingml/2006/main">
              <a:ext uri="{FF2B5EF4-FFF2-40B4-BE49-F238E27FC236}">
                <a16:creationId xmlns:a16="http://schemas.microsoft.com/office/drawing/2014/main" id="{B8ADCDCE-3351-4057-B472-9705D995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Version commentaire</a:t>
            </a:r>
          </a:p>
        </p:txBody>
      </p:sp>
      <p:sp>
        <p:nvSpPr>
          <p:cNvPr id="48" name="script-band">
            <a:extLst xmlns:a="http://schemas.openxmlformats.org/drawingml/2006/main">
              <a:ext uri="{FF2B5EF4-FFF2-40B4-BE49-F238E27FC236}">
                <a16:creationId xmlns:a16="http://schemas.microsoft.com/office/drawing/2014/main" id="{0CE051F7-65B4-48F9-BAA2-2D8B0D75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F1B">
              <a:alpha val="95000"/>
            </a:srgbClr>
          </a:solidFill>
          <a:ln xmlns:a="http://schemas.openxmlformats.org/drawingml/2006/main" w="0">
            <a:solidFill>
              <a:srgbClr val="231F1B">
                <a:alpha val="95000"/>
              </a:srgbClr>
            </a:solidFill>
          </a:ln>
        </p:spPr>
      </p:sp>
      <p:sp>
        <p:nvSpPr>
          <p:cNvPr id="49" name="script-label">
            <a:extLst xmlns:a="http://schemas.openxmlformats.org/drawingml/2006/main">
              <a:ext uri="{FF2B5EF4-FFF2-40B4-BE49-F238E27FC236}">
                <a16:creationId xmlns:a16="http://schemas.microsoft.com/office/drawing/2014/main" id="{36F52CB8-901F-4814-8EEE-DA28EE95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9D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D9C5"/>
                </a:solidFill>
                <a:latin typeface="Aptos"/>
                <a:ea typeface="Aptos"/>
                <a:cs typeface="Aptos"/>
              </a:rPr>
              <a:t>À DIRE</a:t>
            </a:r>
          </a:p>
        </p:txBody>
      </p:sp>
      <p:sp>
        <p:nvSpPr>
          <p:cNvPr id="50" name="script-text">
            <a:extLst xmlns:a="http://schemas.openxmlformats.org/drawingml/2006/main">
              <a:ext uri="{FF2B5EF4-FFF2-40B4-BE49-F238E27FC236}">
                <a16:creationId xmlns:a16="http://schemas.microsoft.com/office/drawing/2014/main" id="{E0ECA354-5ABC-48DA-B65B-6F43C0BA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6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6EB"/>
                </a:solidFill>
                <a:latin typeface="Aptos"/>
                <a:ea typeface="Aptos"/>
                <a:cs typeface="Aptos"/>
              </a:rPr>
              <a:t>L’architecture est découpée en trois blocs: Flutter pour l’usage quotidien, Laravel pour la vérité métier, et le dashboard pour la lecture rapide. Ce qui compte, c’est que la même réservation circule partout avec la même structure.</a:t>
            </a:r>
          </a:p>
        </p:txBody>
      </p:sp>
    </p:spTree>
    <p:extLst>
      <p:ext uri="{BB962C8B-B14F-4D97-AF65-F5344CB8AC3E}">
        <p14:creationId xmlns:p14="http://schemas.microsoft.com/office/powerpoint/2010/main" val="14898327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62B7913-98C1-427B-9AB1-1F7D433C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A"/>
          </a:solidFill>
          <a:ln xmlns:a="http://schemas.openxmlformats.org/drawingml/2006/main" w="0">
            <a:solidFill>
              <a:srgbClr val="FBF4EA"/>
            </a:solidFill>
          </a:ln>
        </p:spPr>
      </p:sp>
      <p:sp>
        <p:nvSpPr>
          <p:cNvPr id="2" name="orb-a">
            <a:extLst xmlns:a="http://schemas.openxmlformats.org/drawingml/2006/main">
              <a:ext uri="{FF2B5EF4-FFF2-40B4-BE49-F238E27FC236}">
                <a16:creationId xmlns:a16="http://schemas.microsoft.com/office/drawing/2014/main" id="{9029AAB7-A6A6-44FC-BC6F-9077A966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7000"/>
            </a:srgbClr>
          </a:solidFill>
          <a:ln xmlns:a="http://schemas.openxmlformats.org/drawingml/2006/main" w="0">
            <a:solidFill>
              <a:srgbClr val="1F7665">
                <a:alpha val="0"/>
              </a:srgbClr>
            </a:solidFill>
          </a:ln>
        </p:spPr>
      </p:sp>
      <p:sp>
        <p:nvSpPr>
          <p:cNvPr id="3" name="orb-b">
            <a:extLst xmlns:a="http://schemas.openxmlformats.org/drawingml/2006/main">
              <a:ext uri="{FF2B5EF4-FFF2-40B4-BE49-F238E27FC236}">
                <a16:creationId xmlns:a16="http://schemas.microsoft.com/office/drawing/2014/main" id="{C27ACA67-B6FC-47CC-A3FF-B8C60B5E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95250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3427">
              <a:alpha val="6000"/>
            </a:srgbClr>
          </a:solidFill>
          <a:ln xmlns:a="http://schemas.openxmlformats.org/drawingml/2006/main" w="0">
            <a:solidFill>
              <a:srgbClr val="443427">
                <a:alpha val="0"/>
              </a:srgbClr>
            </a:solidFill>
          </a:ln>
        </p:spPr>
      </p:sp>
      <p:sp>
        <p:nvSpPr>
          <p:cNvPr id="4" name="orb-c">
            <a:extLst xmlns:a="http://schemas.openxmlformats.org/drawingml/2006/main">
              <a:ext uri="{FF2B5EF4-FFF2-40B4-BE49-F238E27FC236}">
                <a16:creationId xmlns:a16="http://schemas.microsoft.com/office/drawing/2014/main" id="{21A640C3-A1C1-434A-92AD-9D73F22B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5000"/>
            </a:srgbClr>
          </a:solidFill>
          <a:ln xmlns:a="http://schemas.openxmlformats.org/drawingml/2006/main" w="0">
            <a:solidFill>
              <a:srgbClr val="1F7665">
                <a:alpha val="0"/>
              </a:srgbClr>
            </a:solidFill>
          </a:ln>
        </p:spPr>
      </p:sp>
      <p:sp>
        <p:nvSpPr>
          <p:cNvPr id="5" name="kicker-dot">
            <a:extLst xmlns:a="http://schemas.openxmlformats.org/drawingml/2006/main">
              <a:ext uri="{FF2B5EF4-FFF2-40B4-BE49-F238E27FC236}">
                <a16:creationId xmlns:a16="http://schemas.microsoft.com/office/drawing/2014/main" id="{0E0FCD73-B5C0-4739-A67A-E0614AAC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/>
          </a:solidFill>
          <a:ln xmlns:a="http://schemas.openxmlformats.org/drawingml/2006/main" w="0">
            <a:solidFill>
              <a:srgbClr val="1F7665"/>
            </a:solidFill>
          </a:ln>
        </p:spPr>
      </p:sp>
      <p:sp>
        <p:nvSpPr>
          <p:cNvPr id="6" name="kicker-text">
            <a:extLst xmlns:a="http://schemas.openxmlformats.org/drawingml/2006/main">
              <a:ext uri="{FF2B5EF4-FFF2-40B4-BE49-F238E27FC236}">
                <a16:creationId xmlns:a16="http://schemas.microsoft.com/office/drawing/2014/main" id="{62000C03-EA59-4044-BA1A-4A19E5A7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FLUX MÉTIER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725E0D7-3657-4878-BF6B-DF7CF2C2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Le point dur, c’est l’après check-in: encore bouger, sans casser le dossier client.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A5B93D5B-AA02-4893-9849-B15843A4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J’ai séparé ce qui doit rester figé de ce qui peut encore évoluer. C’est là que le projet devient vraiment hôtelier, pas juste “réservation + formulaire”.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813C32CB-09E8-488E-879F-E8BCB83C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2479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F7665">
              <a:alpha val="10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0D6DE-7671-4A61-95D1-86760316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7665">
              <a:alpha val="12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59403-D23A-440D-9605-92589575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Réservation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4A973-6D2F-4849-B026-B8DFE8C4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Dossier complet, client modifiable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E2DFC-34C8-4E3C-8401-9713B32E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9431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443427">
                <a:alpha val="800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A9457-9F3B-40A8-84FA-20A8CAC5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C5263910-EB8D-4BEE-B115-93239B58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22479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791AA-D9A0-4617-A6D2-562662B9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95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7665">
              <a:alpha val="12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0E875-4533-4464-9828-B6094D2F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95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Check-in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6D631-B639-4641-B239-9E25913B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908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Qui a fait quoi est enregistré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75653-942B-4833-931A-5FE50B78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19431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443427">
                <a:alpha val="800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BC195-BC7E-4A5F-A574-8EB5D3F6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48075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acte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5140A2A8-3F4E-42A0-A1AB-1D98E6D5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62200"/>
            <a:ext cx="22479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231F1B">
              <a:alpha val="5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32B01-7A46-41D7-8720-7EA8B8C0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7665">
              <a:alpha val="12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C9B45-FC52-4618-9635-8EF4B42B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95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Séjour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7B3DBE-CD2B-4A32-A55A-B2CD3818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908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Changement de chambre, lits, matelas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57B357-69FB-4031-8F45-A3DA53E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9431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443427">
                <a:alpha val="800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B088CA-FE62-417A-A617-78CD862F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48075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ajustement</a:t>
            </a:r>
          </a:p>
        </p:txBody>
      </p:sp>
      <p:sp>
        <p:nvSpPr>
          <p:cNvPr id="27" name="card">
            <a:extLst xmlns:a="http://schemas.openxmlformats.org/drawingml/2006/main">
              <a:ext uri="{FF2B5EF4-FFF2-40B4-BE49-F238E27FC236}">
                <a16:creationId xmlns:a16="http://schemas.microsoft.com/office/drawing/2014/main" id="{00A6B035-8159-45A5-816E-F4DF4368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2479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BE123C">
              <a:alpha val="8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7C204C-6254-4409-8619-82649525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E123C">
              <a:alpha val="12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72925A-8892-4788-860D-7355E8BC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95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Paiement /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A227B8-1786-441F-B6E5-71925EA9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908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Acompte, paiement, modification, annulation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F65C7A-9DFC-496F-9157-18D0661F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19431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443427">
                <a:alpha val="800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364B3-4DFB-435F-AF07-FBEBDD47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48075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101152e1941c0">
            <a:extLst>
              <a:ext uri="{96DAC541-7B7A-43D3-8B79-37D633B846F1}">
                <asvg:svgBlip xmlns:asvg="http://schemas.microsoft.com/office/drawing/2016/SVG/main" r:embed="R9e2719fe40ed4e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71800" y="29337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dd879c8cf4e9a">
            <a:extLst>
              <a:ext uri="{96DAC541-7B7A-43D3-8B79-37D633B846F1}">
                <asvg:svgBlip xmlns:asvg="http://schemas.microsoft.com/office/drawing/2016/SVG/main" r:embed="R2d867e74146249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38800" y="29337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897c860274780">
            <a:extLst>
              <a:ext uri="{96DAC541-7B7A-43D3-8B79-37D633B846F1}">
                <asvg:svgBlip xmlns:asvg="http://schemas.microsoft.com/office/drawing/2016/SVG/main" r:embed="R4299762d5fce44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2933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card">
            <a:extLst xmlns:a="http://schemas.openxmlformats.org/drawingml/2006/main">
              <a:ext uri="{FF2B5EF4-FFF2-40B4-BE49-F238E27FC236}">
                <a16:creationId xmlns:a16="http://schemas.microsoft.com/office/drawing/2014/main" id="{48984215-2C39-4B4E-96BE-E74FFD2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295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EFE3">
              <a:alpha val="96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37" name="Avant-head">
            <a:extLst xmlns:a="http://schemas.openxmlformats.org/drawingml/2006/main">
              <a:ext uri="{FF2B5EF4-FFF2-40B4-BE49-F238E27FC236}">
                <a16:creationId xmlns:a16="http://schemas.microsoft.com/office/drawing/2014/main" id="{2A4C3BE6-07DC-49E7-91FE-80CD948E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8" name="Avant-body">
            <a:extLst xmlns:a="http://schemas.openxmlformats.org/drawingml/2006/main">
              <a:ext uri="{FF2B5EF4-FFF2-40B4-BE49-F238E27FC236}">
                <a16:creationId xmlns:a16="http://schemas.microsoft.com/office/drawing/2014/main" id="{5BD5FE5D-FA48-4B29-9A8D-E56E21ED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2990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Toutes les informations restent modifiables. On peut corriger une chambre, des dates, des suppléments, sans bloquer inutilement.</a:t>
            </a:r>
          </a:p>
        </p:txBody>
      </p:sp>
      <p:sp>
        <p:nvSpPr>
          <p:cNvPr id="39" name="card">
            <a:extLst xmlns:a="http://schemas.openxmlformats.org/drawingml/2006/main">
              <a:ext uri="{FF2B5EF4-FFF2-40B4-BE49-F238E27FC236}">
                <a16:creationId xmlns:a16="http://schemas.microsoft.com/office/drawing/2014/main" id="{F2DF800F-9002-4DD9-BAB2-CD685164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43400"/>
            <a:ext cx="3295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EFE3">
              <a:alpha val="96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40" name="Après check-in-head">
            <a:extLst xmlns:a="http://schemas.openxmlformats.org/drawingml/2006/main">
              <a:ext uri="{FF2B5EF4-FFF2-40B4-BE49-F238E27FC236}">
                <a16:creationId xmlns:a16="http://schemas.microsoft.com/office/drawing/2014/main" id="{1AFD5625-FC97-4DF4-B4E4-E4D518F1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767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Après check-in</a:t>
            </a:r>
          </a:p>
        </p:txBody>
      </p:sp>
      <p:sp>
        <p:nvSpPr>
          <p:cNvPr id="41" name="Après check-in-body">
            <a:extLst xmlns:a="http://schemas.openxmlformats.org/drawingml/2006/main">
              <a:ext uri="{FF2B5EF4-FFF2-40B4-BE49-F238E27FC236}">
                <a16:creationId xmlns:a16="http://schemas.microsoft.com/office/drawing/2014/main" id="{BDB91570-F452-4B39-92D0-2758AB9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05350"/>
            <a:ext cx="2990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 client ne doit plus être édité. On garde les options opérationnelles, pas l’identité du dossier.</a:t>
            </a:r>
          </a:p>
        </p:txBody>
      </p:sp>
      <p:sp>
        <p:nvSpPr>
          <p:cNvPr id="42" name="card">
            <a:extLst xmlns:a="http://schemas.openxmlformats.org/drawingml/2006/main">
              <a:ext uri="{FF2B5EF4-FFF2-40B4-BE49-F238E27FC236}">
                <a16:creationId xmlns:a16="http://schemas.microsoft.com/office/drawing/2014/main" id="{ACDFB987-4D6C-4839-BD34-F7F04B82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3467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F7665">
              <a:alpha val="9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43" name="Ce qui est tracé-head">
            <a:extLst xmlns:a="http://schemas.openxmlformats.org/drawingml/2006/main">
              <a:ext uri="{FF2B5EF4-FFF2-40B4-BE49-F238E27FC236}">
                <a16:creationId xmlns:a16="http://schemas.microsoft.com/office/drawing/2014/main" id="{0DE75408-C691-4346-8D56-72942A1C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Ce qui est tracé</a:t>
            </a:r>
          </a:p>
        </p:txBody>
      </p:sp>
      <p:sp>
        <p:nvSpPr>
          <p:cNvPr id="44" name="Ce qui est tracé-body">
            <a:extLst xmlns:a="http://schemas.openxmlformats.org/drawingml/2006/main">
              <a:ext uri="{FF2B5EF4-FFF2-40B4-BE49-F238E27FC236}">
                <a16:creationId xmlns:a16="http://schemas.microsoft.com/office/drawing/2014/main" id="{CF5409BC-BF81-4D0A-B8CD-9903CDE4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05350"/>
            <a:ext cx="3162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Check-in, paiement, acompte, modification et annulation. Chaque action prend un auteur et un contexte.</a:t>
            </a:r>
          </a:p>
        </p:txBody>
      </p:sp>
      <p:sp>
        <p:nvSpPr>
          <p:cNvPr id="4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EB7331A-16AA-498A-B40A-1A0D8F2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427">
              <a:alpha val="10000"/>
            </a:srgbClr>
          </a:solidFill>
          <a:ln xmlns:a="http://schemas.openxmlformats.org/drawingml/2006/main" w="0">
            <a:solidFill>
              <a:srgbClr val="443427">
                <a:alpha val="10000"/>
              </a:srgbClr>
            </a:solidFill>
          </a:ln>
        </p:spPr>
      </p:sp>
      <p:sp>
        <p:nvSpPr>
          <p:cNvPr id="4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B237E96-9BB3-4F85-80E7-243256F9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Hestia Predict</a:t>
            </a:r>
          </a:p>
        </p:txBody>
      </p:sp>
      <p:sp>
        <p:nvSpPr>
          <p:cNvPr id="47" name="footer-mode">
            <a:extLst xmlns:a="http://schemas.openxmlformats.org/drawingml/2006/main">
              <a:ext uri="{FF2B5EF4-FFF2-40B4-BE49-F238E27FC236}">
                <a16:creationId xmlns:a16="http://schemas.microsoft.com/office/drawing/2014/main" id="{0DCFD152-DDE5-4094-8554-A61BE17C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Version commentaire</a:t>
            </a:r>
          </a:p>
        </p:txBody>
      </p:sp>
      <p:sp>
        <p:nvSpPr>
          <p:cNvPr id="48" name="script-band">
            <a:extLst xmlns:a="http://schemas.openxmlformats.org/drawingml/2006/main">
              <a:ext uri="{FF2B5EF4-FFF2-40B4-BE49-F238E27FC236}">
                <a16:creationId xmlns:a16="http://schemas.microsoft.com/office/drawing/2014/main" id="{D46A1F9E-C7B1-41B0-B816-8D2D4283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F1B">
              <a:alpha val="95000"/>
            </a:srgbClr>
          </a:solidFill>
          <a:ln xmlns:a="http://schemas.openxmlformats.org/drawingml/2006/main" w="0">
            <a:solidFill>
              <a:srgbClr val="231F1B">
                <a:alpha val="95000"/>
              </a:srgbClr>
            </a:solidFill>
          </a:ln>
        </p:spPr>
      </p:sp>
      <p:sp>
        <p:nvSpPr>
          <p:cNvPr id="49" name="script-label">
            <a:extLst xmlns:a="http://schemas.openxmlformats.org/drawingml/2006/main">
              <a:ext uri="{FF2B5EF4-FFF2-40B4-BE49-F238E27FC236}">
                <a16:creationId xmlns:a16="http://schemas.microsoft.com/office/drawing/2014/main" id="{AED2810D-662E-4657-9CD5-6B13B4D9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9D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D9C5"/>
                </a:solidFill>
                <a:latin typeface="Aptos"/>
                <a:ea typeface="Aptos"/>
                <a:cs typeface="Aptos"/>
              </a:rPr>
              <a:t>À DIRE</a:t>
            </a:r>
          </a:p>
        </p:txBody>
      </p:sp>
      <p:sp>
        <p:nvSpPr>
          <p:cNvPr id="50" name="script-text">
            <a:extLst xmlns:a="http://schemas.openxmlformats.org/drawingml/2006/main">
              <a:ext uri="{FF2B5EF4-FFF2-40B4-BE49-F238E27FC236}">
                <a16:creationId xmlns:a16="http://schemas.microsoft.com/office/drawing/2014/main" id="{5762F946-7BAA-4A67-BC79-4951475D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6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6EB"/>
                </a:solidFill>
                <a:latin typeface="Aptos"/>
                <a:ea typeface="Aptos"/>
                <a:cs typeface="Aptos"/>
              </a:rPr>
              <a:t>Le point délicat, c’est l’après check-in. Là, j’ai vraiment séparé le dossier client des options opérationnelles. Donc on peut encore ajuster la chambre ou ajouter un lit, mais on ne réécrit plus les infos client n’importe quand.</a:t>
            </a:r>
          </a:p>
        </p:txBody>
      </p:sp>
    </p:spTree>
    <p:extLst>
      <p:ext uri="{BB962C8B-B14F-4D97-AF65-F5344CB8AC3E}">
        <p14:creationId xmlns:p14="http://schemas.microsoft.com/office/powerpoint/2010/main" val="21078979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8F299FF-59E8-43E6-B420-9EEFCCCD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A"/>
          </a:solidFill>
          <a:ln xmlns:a="http://schemas.openxmlformats.org/drawingml/2006/main" w="0">
            <a:solidFill>
              <a:srgbClr val="FBF4EA"/>
            </a:solidFill>
          </a:ln>
        </p:spPr>
      </p:sp>
      <p:sp>
        <p:nvSpPr>
          <p:cNvPr id="2" name="orb-a">
            <a:extLst xmlns:a="http://schemas.openxmlformats.org/drawingml/2006/main">
              <a:ext uri="{FF2B5EF4-FFF2-40B4-BE49-F238E27FC236}">
                <a16:creationId xmlns:a16="http://schemas.microsoft.com/office/drawing/2014/main" id="{0DE9DA5C-FE85-4516-9859-4839BD06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7000"/>
            </a:srgbClr>
          </a:solidFill>
          <a:ln xmlns:a="http://schemas.openxmlformats.org/drawingml/2006/main" w="0">
            <a:solidFill>
              <a:srgbClr val="1F7665">
                <a:alpha val="0"/>
              </a:srgbClr>
            </a:solidFill>
          </a:ln>
        </p:spPr>
      </p:sp>
      <p:sp>
        <p:nvSpPr>
          <p:cNvPr id="3" name="orb-b">
            <a:extLst xmlns:a="http://schemas.openxmlformats.org/drawingml/2006/main">
              <a:ext uri="{FF2B5EF4-FFF2-40B4-BE49-F238E27FC236}">
                <a16:creationId xmlns:a16="http://schemas.microsoft.com/office/drawing/2014/main" id="{9D3EF5C5-2811-4C55-B6FF-28B9642A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95250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3427">
              <a:alpha val="6000"/>
            </a:srgbClr>
          </a:solidFill>
          <a:ln xmlns:a="http://schemas.openxmlformats.org/drawingml/2006/main" w="0">
            <a:solidFill>
              <a:srgbClr val="443427">
                <a:alpha val="0"/>
              </a:srgbClr>
            </a:solidFill>
          </a:ln>
        </p:spPr>
      </p:sp>
      <p:sp>
        <p:nvSpPr>
          <p:cNvPr id="4" name="orb-c">
            <a:extLst xmlns:a="http://schemas.openxmlformats.org/drawingml/2006/main">
              <a:ext uri="{FF2B5EF4-FFF2-40B4-BE49-F238E27FC236}">
                <a16:creationId xmlns:a16="http://schemas.microsoft.com/office/drawing/2014/main" id="{8E3233DF-DA75-41C3-A83D-3D568FCC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5000"/>
            </a:srgbClr>
          </a:solidFill>
          <a:ln xmlns:a="http://schemas.openxmlformats.org/drawingml/2006/main" w="0">
            <a:solidFill>
              <a:srgbClr val="1F7665">
                <a:alpha val="0"/>
              </a:srgbClr>
            </a:solidFill>
          </a:ln>
        </p:spPr>
      </p:sp>
      <p:sp>
        <p:nvSpPr>
          <p:cNvPr id="5" name="kicker-dot">
            <a:extLst xmlns:a="http://schemas.openxmlformats.org/drawingml/2006/main">
              <a:ext uri="{FF2B5EF4-FFF2-40B4-BE49-F238E27FC236}">
                <a16:creationId xmlns:a16="http://schemas.microsoft.com/office/drawing/2014/main" id="{63758845-8EA8-4903-AC42-251F6CF7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/>
          </a:solidFill>
          <a:ln xmlns:a="http://schemas.openxmlformats.org/drawingml/2006/main" w="0">
            <a:solidFill>
              <a:srgbClr val="1F7665"/>
            </a:solidFill>
          </a:ln>
        </p:spPr>
      </p:sp>
      <p:sp>
        <p:nvSpPr>
          <p:cNvPr id="6" name="kicker-text">
            <a:extLst xmlns:a="http://schemas.openxmlformats.org/drawingml/2006/main">
              <a:ext uri="{FF2B5EF4-FFF2-40B4-BE49-F238E27FC236}">
                <a16:creationId xmlns:a16="http://schemas.microsoft.com/office/drawing/2014/main" id="{100FCA34-5680-4828-92F8-F1B00AAB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TROIS BLOCAGES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E51552-E5FE-400C-8774-047DF085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Trois vrais problèmes de code ont forcé des corrections nettes.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14F09722-ACA3-466F-A9D1-D8E24D53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Pas des “petits bugs”. Des endroits où la logique métier, l’historique ou la lisibilité pouvaient partir de travers.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6CC9860E-8CC0-4443-84A0-6398C702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31470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1F7665">
              <a:alpha val="10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7E4C3-6768-4896-8A00-7B92FD60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7665">
              <a:alpha val="12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A24C9-6DEB-4E5B-9A9E-CA327C33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1. Réservation bloquée trop tôt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C772F-75E6-44F2-8DB3-6062298D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 code refusait encore de modifier la réservation alors qu’elle venait d’arriver. On perdait de la souplesse sur une opération courante.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92CF0-8FAA-407E-AB0F-CA5D918F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427">
              <a:alpha val="12000"/>
            </a:srgbClr>
          </a:solidFill>
          <a:ln xmlns:a="http://schemas.openxmlformats.org/drawingml/2006/main" w="0">
            <a:solidFill>
              <a:srgbClr val="443427">
                <a:alpha val="1200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F618E-08AA-4F89-B6DB-492343C7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CFCA9-D6AF-4183-892A-A95EAA3F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971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31F1B"/>
                </a:solidFill>
                <a:latin typeface="Aptos"/>
                <a:ea typeface="Aptos"/>
                <a:cs typeface="Aptos"/>
              </a:rPr>
              <a:t>J’ai séparé les champs client et les options. Après check-in, seule la partie opérationnelle reste ouverte.</a:t>
            </a:r>
          </a:p>
        </p:txBody>
      </p:sp>
      <p:sp>
        <p:nvSpPr>
          <p:cNvPr id="16" name="code-line">
            <a:extLst xmlns:a="http://schemas.openxmlformats.org/drawingml/2006/main">
              <a:ext uri="{FF2B5EF4-FFF2-40B4-BE49-F238E27FC236}">
                <a16:creationId xmlns:a16="http://schemas.microsoft.com/office/drawing/2014/main" id="{3A51C4EE-226A-4534-9093-5DB4215D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971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31F1B">
              <a:alpha val="96000"/>
            </a:srgbClr>
          </a:solidFill>
          <a:ln xmlns:a="http://schemas.openxmlformats.org/drawingml/2006/main" w="0">
            <a:solidFill>
              <a:srgbClr val="231F1B">
                <a:alpha val="96000"/>
              </a:srgbClr>
            </a:solidFill>
          </a:ln>
        </p:spPr>
      </p:sp>
      <p:sp>
        <p:nvSpPr>
          <p:cNvPr id="17" name="code-text">
            <a:extLst xmlns:a="http://schemas.openxmlformats.org/drawingml/2006/main">
              <a:ext uri="{FF2B5EF4-FFF2-40B4-BE49-F238E27FC236}">
                <a16:creationId xmlns:a16="http://schemas.microsoft.com/office/drawing/2014/main" id="{7594C105-46BF-48B8-8962-A311C086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2743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if (status === 'arrive') {</a:t>
            </a:r>
          </a:p>
        </p:txBody>
      </p:sp>
      <p:sp>
        <p:nvSpPr>
          <p:cNvPr id="18" name="code-line">
            <a:extLst xmlns:a="http://schemas.openxmlformats.org/drawingml/2006/main">
              <a:ext uri="{FF2B5EF4-FFF2-40B4-BE49-F238E27FC236}">
                <a16:creationId xmlns:a16="http://schemas.microsoft.com/office/drawing/2014/main" id="{13AD79EB-B2BD-4472-9338-EDA6CE2E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2971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31F1B">
              <a:alpha val="96000"/>
            </a:srgbClr>
          </a:solidFill>
          <a:ln xmlns:a="http://schemas.openxmlformats.org/drawingml/2006/main" w="0">
            <a:solidFill>
              <a:srgbClr val="231F1B">
                <a:alpha val="96000"/>
              </a:srgbClr>
            </a:solidFill>
          </a:ln>
        </p:spPr>
      </p:sp>
      <p:sp>
        <p:nvSpPr>
          <p:cNvPr id="19" name="code-text">
            <a:extLst xmlns:a="http://schemas.openxmlformats.org/drawingml/2006/main">
              <a:ext uri="{FF2B5EF4-FFF2-40B4-BE49-F238E27FC236}">
                <a16:creationId xmlns:a16="http://schemas.microsoft.com/office/drawing/2014/main" id="{5024ACE5-CC22-406D-BA0E-C678F2E6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743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  allowRoomChanges = true;</a:t>
            </a:r>
          </a:p>
        </p:txBody>
      </p:sp>
      <p:sp>
        <p:nvSpPr>
          <p:cNvPr id="20" name="code-line">
            <a:extLst xmlns:a="http://schemas.openxmlformats.org/drawingml/2006/main">
              <a:ext uri="{FF2B5EF4-FFF2-40B4-BE49-F238E27FC236}">
                <a16:creationId xmlns:a16="http://schemas.microsoft.com/office/drawing/2014/main" id="{35868CF3-74B2-414E-BE7E-37A7B3AC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2971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31F1B">
              <a:alpha val="96000"/>
            </a:srgbClr>
          </a:solidFill>
          <a:ln xmlns:a="http://schemas.openxmlformats.org/drawingml/2006/main" w="0">
            <a:solidFill>
              <a:srgbClr val="231F1B">
                <a:alpha val="96000"/>
              </a:srgbClr>
            </a:solidFill>
          </a:ln>
        </p:spPr>
      </p:sp>
      <p:sp>
        <p:nvSpPr>
          <p:cNvPr id="21" name="code-text">
            <a:extLst xmlns:a="http://schemas.openxmlformats.org/drawingml/2006/main">
              <a:ext uri="{FF2B5EF4-FFF2-40B4-BE49-F238E27FC236}">
                <a16:creationId xmlns:a16="http://schemas.microsoft.com/office/drawing/2014/main" id="{8527C0EB-4721-4F38-953B-7B997A75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743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  allowGuestEdit = false;</a:t>
            </a:r>
          </a:p>
        </p:txBody>
      </p:sp>
      <p:sp>
        <p:nvSpPr>
          <p:cNvPr id="22" name="code-line">
            <a:extLst xmlns:a="http://schemas.openxmlformats.org/drawingml/2006/main">
              <a:ext uri="{FF2B5EF4-FFF2-40B4-BE49-F238E27FC236}">
                <a16:creationId xmlns:a16="http://schemas.microsoft.com/office/drawing/2014/main" id="{E9D634D2-39D6-46FE-A48A-91F47B26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2971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31F1B">
              <a:alpha val="96000"/>
            </a:srgbClr>
          </a:solidFill>
          <a:ln xmlns:a="http://schemas.openxmlformats.org/drawingml/2006/main" w="0">
            <a:solidFill>
              <a:srgbClr val="231F1B">
                <a:alpha val="96000"/>
              </a:srgbClr>
            </a:solidFill>
          </a:ln>
        </p:spPr>
      </p:sp>
      <p:sp>
        <p:nvSpPr>
          <p:cNvPr id="23" name="code-text">
            <a:extLst xmlns:a="http://schemas.openxmlformats.org/drawingml/2006/main">
              <a:ext uri="{FF2B5EF4-FFF2-40B4-BE49-F238E27FC236}">
                <a16:creationId xmlns:a16="http://schemas.microsoft.com/office/drawing/2014/main" id="{0419F902-2B6D-4A44-B582-41EA386D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2743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1C921159-B34A-476A-A3EA-86BC9259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33625"/>
            <a:ext cx="331470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F897C-1AC2-4091-A4A5-1723A07E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14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1F1B">
              <a:alpha val="8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8280B-8C30-423C-BEF1-8E9883BE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527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2. Aucune trace exploitable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AA44F6-FAC7-4948-B470-2FE6956E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0990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Les actions existaient dans le flux, mais on ne savait pas clairement qui avait pris le paiement, validé le check-in ou modifié le dossier.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CB68C-7073-4EFA-AF51-D61C46A4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766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427">
              <a:alpha val="12000"/>
            </a:srgbClr>
          </a:solidFill>
          <a:ln xmlns:a="http://schemas.openxmlformats.org/drawingml/2006/main" w="0">
            <a:solidFill>
              <a:srgbClr val="443427">
                <a:alpha val="1200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DBD2DD-86CB-4799-BDAD-6C839532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7909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3EF3A2-98DC-472B-B310-7F8E25D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000500"/>
            <a:ext cx="2971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31F1B"/>
                </a:solidFill>
                <a:latin typeface="Aptos"/>
                <a:ea typeface="Aptos"/>
                <a:cs typeface="Aptos"/>
              </a:rPr>
              <a:t>J’ai ajouté une table d’audit et branché les contrôleurs dessus pour enregistrer l’auteur, le rôle et les détails.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C63F4319-AF3E-4EC2-BBE8-6F956EE6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29150"/>
            <a:ext cx="2971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31F1B">
              <a:alpha val="96000"/>
            </a:srgbClr>
          </a:solidFill>
          <a:ln xmlns:a="http://schemas.openxmlformats.org/drawingml/2006/main" w="0">
            <a:solidFill>
              <a:srgbClr val="231F1B">
                <a:alpha val="96000"/>
              </a:srgbClr>
            </a:solidFill>
          </a:ln>
        </p:spPr>
      </p:sp>
      <p:sp>
        <p:nvSpPr>
          <p:cNvPr id="32" name="code-text">
            <a:extLst xmlns:a="http://schemas.openxmlformats.org/drawingml/2006/main">
              <a:ext uri="{FF2B5EF4-FFF2-40B4-BE49-F238E27FC236}">
                <a16:creationId xmlns:a16="http://schemas.microsoft.com/office/drawing/2014/main" id="{146583A3-1CF5-4F20-9545-90B890E8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67250"/>
            <a:ext cx="2743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ReservationAudit::create([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A4B48B2F-A653-4377-B8E8-85C68DF5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876800"/>
            <a:ext cx="2971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31F1B">
              <a:alpha val="96000"/>
            </a:srgbClr>
          </a:solidFill>
          <a:ln xmlns:a="http://schemas.openxmlformats.org/drawingml/2006/main" w="0">
            <a:solidFill>
              <a:srgbClr val="231F1B">
                <a:alpha val="96000"/>
              </a:srgbClr>
            </a:solidFill>
          </a:ln>
        </p:spPr>
      </p:sp>
      <p:sp>
        <p:nvSpPr>
          <p:cNvPr id="34" name="code-text">
            <a:extLst xmlns:a="http://schemas.openxmlformats.org/drawingml/2006/main">
              <a:ext uri="{FF2B5EF4-FFF2-40B4-BE49-F238E27FC236}">
                <a16:creationId xmlns:a16="http://schemas.microsoft.com/office/drawing/2014/main" id="{F7265DFF-5358-4FB0-A792-36FCF625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14900"/>
            <a:ext cx="2743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  'action' =&gt; 'payment',</a:t>
            </a:r>
          </a:p>
        </p:txBody>
      </p:sp>
      <p:sp>
        <p:nvSpPr>
          <p:cNvPr id="35" name="code-line">
            <a:extLst xmlns:a="http://schemas.openxmlformats.org/drawingml/2006/main">
              <a:ext uri="{FF2B5EF4-FFF2-40B4-BE49-F238E27FC236}">
                <a16:creationId xmlns:a16="http://schemas.microsoft.com/office/drawing/2014/main" id="{02C92A8B-F541-4D1B-934C-C391C31C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124450"/>
            <a:ext cx="2971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31F1B">
              <a:alpha val="96000"/>
            </a:srgbClr>
          </a:solidFill>
          <a:ln xmlns:a="http://schemas.openxmlformats.org/drawingml/2006/main" w="0">
            <a:solidFill>
              <a:srgbClr val="231F1B">
                <a:alpha val="96000"/>
              </a:srgbClr>
            </a:solidFill>
          </a:ln>
        </p:spPr>
      </p:sp>
      <p:sp>
        <p:nvSpPr>
          <p:cNvPr id="36" name="code-text">
            <a:extLst xmlns:a="http://schemas.openxmlformats.org/drawingml/2006/main">
              <a:ext uri="{FF2B5EF4-FFF2-40B4-BE49-F238E27FC236}">
                <a16:creationId xmlns:a16="http://schemas.microsoft.com/office/drawing/2014/main" id="{0C44289B-3607-45D8-AE70-00F850B7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162550"/>
            <a:ext cx="2743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  'actor_name' =&gt; $user,</a:t>
            </a:r>
          </a:p>
        </p:txBody>
      </p:sp>
      <p:sp>
        <p:nvSpPr>
          <p:cNvPr id="37" name="code-line">
            <a:extLst xmlns:a="http://schemas.openxmlformats.org/drawingml/2006/main">
              <a:ext uri="{FF2B5EF4-FFF2-40B4-BE49-F238E27FC236}">
                <a16:creationId xmlns:a16="http://schemas.microsoft.com/office/drawing/2014/main" id="{144A6207-6C34-40EA-B91D-E425D6B6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372100"/>
            <a:ext cx="2971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31F1B">
              <a:alpha val="96000"/>
            </a:srgbClr>
          </a:solidFill>
          <a:ln xmlns:a="http://schemas.openxmlformats.org/drawingml/2006/main" w="0">
            <a:solidFill>
              <a:srgbClr val="231F1B">
                <a:alpha val="96000"/>
              </a:srgbClr>
            </a:solidFill>
          </a:ln>
        </p:spPr>
      </p:sp>
      <p:sp>
        <p:nvSpPr>
          <p:cNvPr id="38" name="code-text">
            <a:extLst xmlns:a="http://schemas.openxmlformats.org/drawingml/2006/main">
              <a:ext uri="{FF2B5EF4-FFF2-40B4-BE49-F238E27FC236}">
                <a16:creationId xmlns:a16="http://schemas.microsoft.com/office/drawing/2014/main" id="{66743927-948E-40E6-8ACE-8ED8E478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410200"/>
            <a:ext cx="2743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]);</a:t>
            </a:r>
          </a:p>
        </p:txBody>
      </p:sp>
      <p:sp>
        <p:nvSpPr>
          <p:cNvPr id="39" name="card">
            <a:extLst xmlns:a="http://schemas.openxmlformats.org/drawingml/2006/main">
              <a:ext uri="{FF2B5EF4-FFF2-40B4-BE49-F238E27FC236}">
                <a16:creationId xmlns:a16="http://schemas.microsoft.com/office/drawing/2014/main" id="{A536AA62-BA22-4DFE-B156-CA521328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33625"/>
            <a:ext cx="331470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231F1B">
              <a:alpha val="5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623842-7181-4AB0-A54F-15CE5F29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14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E123C">
              <a:alpha val="9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28DA16-9872-49A7-83C8-D9E79A80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3. Dashboard trop vague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1EF9C3-7D1A-44C9-AFE4-2DF91816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Un statut unique ne suffisait pas. Il fallait voir check-in, paiement, acompte, total et reste à payer sans deviner.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233C03-A7EE-49C5-9738-6BDB3D31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427">
              <a:alpha val="12000"/>
            </a:srgbClr>
          </a:solidFill>
          <a:ln xmlns:a="http://schemas.openxmlformats.org/drawingml/2006/main" w="0">
            <a:solidFill>
              <a:srgbClr val="443427">
                <a:alpha val="1200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04B361-2D74-4937-ACBF-0BCE5CC6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7E3022-F14D-41DE-99F1-39A8A4FF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2971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31F1B"/>
                </a:solidFill>
                <a:latin typeface="Aptos"/>
                <a:ea typeface="Aptos"/>
                <a:cs typeface="Aptos"/>
              </a:rPr>
              <a:t>J’ai éclaté l’affichage en colonnes concrètes et ajouté le tri sur l’historique complet.</a:t>
            </a:r>
          </a:p>
        </p:txBody>
      </p:sp>
      <p:sp>
        <p:nvSpPr>
          <p:cNvPr id="46" name="code-line">
            <a:extLst xmlns:a="http://schemas.openxmlformats.org/drawingml/2006/main">
              <a:ext uri="{FF2B5EF4-FFF2-40B4-BE49-F238E27FC236}">
                <a16:creationId xmlns:a16="http://schemas.microsoft.com/office/drawing/2014/main" id="{C6BDE192-D5B0-4037-B150-EF146860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2971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31F1B">
              <a:alpha val="96000"/>
            </a:srgbClr>
          </a:solidFill>
          <a:ln xmlns:a="http://schemas.openxmlformats.org/drawingml/2006/main" w="0">
            <a:solidFill>
              <a:srgbClr val="231F1B">
                <a:alpha val="96000"/>
              </a:srgbClr>
            </a:solidFill>
          </a:ln>
        </p:spPr>
      </p:sp>
      <p:sp>
        <p:nvSpPr>
          <p:cNvPr id="47" name="code-text">
            <a:extLst xmlns:a="http://schemas.openxmlformats.org/drawingml/2006/main">
              <a:ext uri="{FF2B5EF4-FFF2-40B4-BE49-F238E27FC236}">
                <a16:creationId xmlns:a16="http://schemas.microsoft.com/office/drawing/2014/main" id="{E30FE8E3-55D7-4967-A4D4-0FE2B7D7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743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sortClientHistoryByKey('balance_amount_ariary')</a:t>
            </a:r>
          </a:p>
        </p:txBody>
      </p:sp>
      <p:sp>
        <p:nvSpPr>
          <p:cNvPr id="48" name="code-line">
            <a:extLst xmlns:a="http://schemas.openxmlformats.org/drawingml/2006/main">
              <a:ext uri="{FF2B5EF4-FFF2-40B4-BE49-F238E27FC236}">
                <a16:creationId xmlns:a16="http://schemas.microsoft.com/office/drawing/2014/main" id="{AC5696FC-4712-459F-9968-C9193DC3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76800"/>
            <a:ext cx="2971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31F1B">
              <a:alpha val="96000"/>
            </a:srgbClr>
          </a:solidFill>
          <a:ln xmlns:a="http://schemas.openxmlformats.org/drawingml/2006/main" w="0">
            <a:solidFill>
              <a:srgbClr val="231F1B">
                <a:alpha val="96000"/>
              </a:srgbClr>
            </a:solidFill>
          </a:ln>
        </p:spPr>
      </p:sp>
      <p:sp>
        <p:nvSpPr>
          <p:cNvPr id="49" name="code-text">
            <a:extLst xmlns:a="http://schemas.openxmlformats.org/drawingml/2006/main">
              <a:ext uri="{FF2B5EF4-FFF2-40B4-BE49-F238E27FC236}">
                <a16:creationId xmlns:a16="http://schemas.microsoft.com/office/drawing/2014/main" id="{64FBDADD-7FDD-4458-AC11-3AEFBE2D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14900"/>
            <a:ext cx="2743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sortClientHistoryByKey('check_in_date')</a:t>
            </a:r>
          </a:p>
        </p:txBody>
      </p:sp>
      <p:sp>
        <p:nvSpPr>
          <p:cNvPr id="50" name="card">
            <a:extLst xmlns:a="http://schemas.openxmlformats.org/drawingml/2006/main">
              <a:ext uri="{FF2B5EF4-FFF2-40B4-BE49-F238E27FC236}">
                <a16:creationId xmlns:a16="http://schemas.microsoft.com/office/drawing/2014/main" id="{DBD63092-EA44-4904-88F2-84BA36FE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877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EFE3">
              <a:alpha val="96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51" name="Lecture rapide-head">
            <a:extLst xmlns:a="http://schemas.openxmlformats.org/drawingml/2006/main">
              <a:ext uri="{FF2B5EF4-FFF2-40B4-BE49-F238E27FC236}">
                <a16:creationId xmlns:a16="http://schemas.microsoft.com/office/drawing/2014/main" id="{02DE0203-4C0B-4753-9409-5DA1A60C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Lecture rapide</a:t>
            </a:r>
          </a:p>
        </p:txBody>
      </p:sp>
      <p:sp>
        <p:nvSpPr>
          <p:cNvPr id="52" name="Lecture rapide-body">
            <a:extLst xmlns:a="http://schemas.openxmlformats.org/drawingml/2006/main">
              <a:ext uri="{FF2B5EF4-FFF2-40B4-BE49-F238E27FC236}">
                <a16:creationId xmlns:a16="http://schemas.microsoft.com/office/drawing/2014/main" id="{F4CFB88B-4837-4304-8418-D9317B50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10572750" cy="-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Chaque correction répond à un vrai angle mort: règles d’édition, traçabilité, ou lisibilité métier.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0608FB8-FD86-4EC5-99FC-F56BCA50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427">
              <a:alpha val="10000"/>
            </a:srgbClr>
          </a:solidFill>
          <a:ln xmlns:a="http://schemas.openxmlformats.org/drawingml/2006/main" w="0">
            <a:solidFill>
              <a:srgbClr val="443427">
                <a:alpha val="10000"/>
              </a:srgbClr>
            </a:solidFill>
          </a:ln>
        </p:spPr>
      </p:sp>
      <p:sp>
        <p:nvSpPr>
          <p:cNvPr id="5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E2DC074-AAEF-4330-B08A-671242AD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Hestia Predict</a:t>
            </a:r>
          </a:p>
        </p:txBody>
      </p:sp>
      <p:sp>
        <p:nvSpPr>
          <p:cNvPr id="55" name="footer-mode">
            <a:extLst xmlns:a="http://schemas.openxmlformats.org/drawingml/2006/main">
              <a:ext uri="{FF2B5EF4-FFF2-40B4-BE49-F238E27FC236}">
                <a16:creationId xmlns:a16="http://schemas.microsoft.com/office/drawing/2014/main" id="{5805936B-0253-402C-A041-54CEDEE9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Version commentaire</a:t>
            </a:r>
          </a:p>
        </p:txBody>
      </p:sp>
      <p:sp>
        <p:nvSpPr>
          <p:cNvPr id="56" name="script-band">
            <a:extLst xmlns:a="http://schemas.openxmlformats.org/drawingml/2006/main">
              <a:ext uri="{FF2B5EF4-FFF2-40B4-BE49-F238E27FC236}">
                <a16:creationId xmlns:a16="http://schemas.microsoft.com/office/drawing/2014/main" id="{5750791D-85F6-4B87-82BC-F608AF4A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F1B">
              <a:alpha val="95000"/>
            </a:srgbClr>
          </a:solidFill>
          <a:ln xmlns:a="http://schemas.openxmlformats.org/drawingml/2006/main" w="0">
            <a:solidFill>
              <a:srgbClr val="231F1B">
                <a:alpha val="95000"/>
              </a:srgbClr>
            </a:solidFill>
          </a:ln>
        </p:spPr>
      </p:sp>
      <p:sp>
        <p:nvSpPr>
          <p:cNvPr id="57" name="script-label">
            <a:extLst xmlns:a="http://schemas.openxmlformats.org/drawingml/2006/main">
              <a:ext uri="{FF2B5EF4-FFF2-40B4-BE49-F238E27FC236}">
                <a16:creationId xmlns:a16="http://schemas.microsoft.com/office/drawing/2014/main" id="{83F9F4DB-90D7-469E-94D0-BEB12E7A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9D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D9C5"/>
                </a:solidFill>
                <a:latin typeface="Aptos"/>
                <a:ea typeface="Aptos"/>
                <a:cs typeface="Aptos"/>
              </a:rPr>
              <a:t>À DIRE</a:t>
            </a:r>
          </a:p>
        </p:txBody>
      </p:sp>
      <p:sp>
        <p:nvSpPr>
          <p:cNvPr id="58" name="script-text">
            <a:extLst xmlns:a="http://schemas.openxmlformats.org/drawingml/2006/main">
              <a:ext uri="{FF2B5EF4-FFF2-40B4-BE49-F238E27FC236}">
                <a16:creationId xmlns:a16="http://schemas.microsoft.com/office/drawing/2014/main" id="{D0267D9E-1D15-4EAB-B918-D9412367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6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6EB"/>
                </a:solidFill>
                <a:latin typeface="Aptos"/>
                <a:ea typeface="Aptos"/>
                <a:cs typeface="Aptos"/>
              </a:rPr>
              <a:t>Il y a eu trois endroits sensibles. D’abord la modification après check-in, ensuite l’absence de trace exploitable, puis l’affichage du tableau qui restait trop vague. À chaque fois, j’ai corrigé le code pour faire remonter une information concrète.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09b3f984f4253">
            <a:extLst>
              <a:ext uri="{96DAC541-7B7A-43D3-8B79-37D633B846F1}">
                <asvg:svgBlip xmlns:asvg="http://schemas.microsoft.com/office/drawing/2016/SVG/main" r:embed="R9834cb72209d42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2590800"/>
            <a:ext cx="171450" cy="1714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14df63946412b">
            <a:extLst>
              <a:ext uri="{96DAC541-7B7A-43D3-8B79-37D633B846F1}">
                <asvg:svgBlip xmlns:asvg="http://schemas.microsoft.com/office/drawing/2016/SVG/main" r:embed="Rdfb0b2ca21ae45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29125" y="2590800"/>
            <a:ext cx="171450" cy="1714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89dbb7b234d8c">
            <a:extLst>
              <a:ext uri="{96DAC541-7B7A-43D3-8B79-37D633B846F1}">
                <asvg:svgBlip xmlns:asvg="http://schemas.microsoft.com/office/drawing/2016/SVG/main" r:embed="R3d66d676db244d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0" y="2590800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585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F937B5E-AE14-49F0-9637-D241B17E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A"/>
          </a:solidFill>
          <a:ln xmlns:a="http://schemas.openxmlformats.org/drawingml/2006/main" w="0">
            <a:solidFill>
              <a:srgbClr val="FBF4EA"/>
            </a:solidFill>
          </a:ln>
        </p:spPr>
      </p:sp>
      <p:sp>
        <p:nvSpPr>
          <p:cNvPr id="2" name="orb-a">
            <a:extLst xmlns:a="http://schemas.openxmlformats.org/drawingml/2006/main">
              <a:ext uri="{FF2B5EF4-FFF2-40B4-BE49-F238E27FC236}">
                <a16:creationId xmlns:a16="http://schemas.microsoft.com/office/drawing/2014/main" id="{95937D75-5F00-42C8-B934-49210D32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7000"/>
            </a:srgbClr>
          </a:solidFill>
          <a:ln xmlns:a="http://schemas.openxmlformats.org/drawingml/2006/main" w="0">
            <a:solidFill>
              <a:srgbClr val="1F7665">
                <a:alpha val="0"/>
              </a:srgbClr>
            </a:solidFill>
          </a:ln>
        </p:spPr>
      </p:sp>
      <p:sp>
        <p:nvSpPr>
          <p:cNvPr id="3" name="orb-b">
            <a:extLst xmlns:a="http://schemas.openxmlformats.org/drawingml/2006/main">
              <a:ext uri="{FF2B5EF4-FFF2-40B4-BE49-F238E27FC236}">
                <a16:creationId xmlns:a16="http://schemas.microsoft.com/office/drawing/2014/main" id="{3F1928B2-3BE2-4F47-8F21-F0E3FCEA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95250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3427">
              <a:alpha val="6000"/>
            </a:srgbClr>
          </a:solidFill>
          <a:ln xmlns:a="http://schemas.openxmlformats.org/drawingml/2006/main" w="0">
            <a:solidFill>
              <a:srgbClr val="443427">
                <a:alpha val="0"/>
              </a:srgbClr>
            </a:solidFill>
          </a:ln>
        </p:spPr>
      </p:sp>
      <p:sp>
        <p:nvSpPr>
          <p:cNvPr id="4" name="orb-c">
            <a:extLst xmlns:a="http://schemas.openxmlformats.org/drawingml/2006/main">
              <a:ext uri="{FF2B5EF4-FFF2-40B4-BE49-F238E27FC236}">
                <a16:creationId xmlns:a16="http://schemas.microsoft.com/office/drawing/2014/main" id="{8DE0D4F6-3CA5-4E18-88F5-CE2222F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5000"/>
            </a:srgbClr>
          </a:solidFill>
          <a:ln xmlns:a="http://schemas.openxmlformats.org/drawingml/2006/main" w="0">
            <a:solidFill>
              <a:srgbClr val="1F7665">
                <a:alpha val="0"/>
              </a:srgbClr>
            </a:solidFill>
          </a:ln>
        </p:spPr>
      </p:sp>
      <p:sp>
        <p:nvSpPr>
          <p:cNvPr id="5" name="kicker-dot">
            <a:extLst xmlns:a="http://schemas.openxmlformats.org/drawingml/2006/main">
              <a:ext uri="{FF2B5EF4-FFF2-40B4-BE49-F238E27FC236}">
                <a16:creationId xmlns:a16="http://schemas.microsoft.com/office/drawing/2014/main" id="{65FC4327-3916-4DB7-960F-AE4DA384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/>
          </a:solidFill>
          <a:ln xmlns:a="http://schemas.openxmlformats.org/drawingml/2006/main" w="0">
            <a:solidFill>
              <a:srgbClr val="1F7665"/>
            </a:solidFill>
          </a:ln>
        </p:spPr>
      </p:sp>
      <p:sp>
        <p:nvSpPr>
          <p:cNvPr id="6" name="kicker-text">
            <a:extLst xmlns:a="http://schemas.openxmlformats.org/drawingml/2006/main">
              <a:ext uri="{FF2B5EF4-FFF2-40B4-BE49-F238E27FC236}">
                <a16:creationId xmlns:a16="http://schemas.microsoft.com/office/drawing/2014/main" id="{ACB26A64-3E67-4D33-A2D0-05D8A24D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RÉSULTAT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D16D43D-4303-4D7A-9A5A-DF6D6FF9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04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Le système raconte enfin le séjour au lieu de juste stocker des lignes.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D4A201AC-F9C1-4FE0-BA8A-C816895C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On a un parcours plus sûr pour l’équipe, une lecture plus claire pour le dashboard, et un historique qui sert vraiment quand il faut vérifier.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7FA3974D-DCE9-4254-828B-5A682586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781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BF8F0-0646-4E67-B7D2-FE6D3FE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12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92421-2FD7-4FD8-AA3A-9CAB4DB2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Plus sûr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510D6-B274-4689-A2EC-92BD5653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L’édition post check-in reste possible, mais dans un cadre propre.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AE624047-0CEA-448D-9EAB-D25ABD99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2781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F7665">
              <a:alpha val="8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9E8F5-C101-49FA-B9C9-ACDBEF33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665">
              <a:alpha val="14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ADDF2-99E8-4CDD-8E0F-327AC96F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Plus lisible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C6CFC-F521-41E3-82B9-53FF00FB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908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Check-in, paiement, acompte et reste à payer apparaissent séparément.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BE99503D-FE76-4A71-ABEA-D43228D6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62200"/>
            <a:ext cx="2781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4FFA1-F284-457C-9EF7-4C9288E9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23C">
              <a:alpha val="10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BADDA-205A-4E7B-B892-A1B2A2DF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52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Plus traçable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911F1-8C36-4941-8517-B5A0D8B5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908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Chaque action importante laisse une empreinte avec auteur et contexte.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DE10866D-83C3-40AF-806D-B34F5C05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877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7665">
              <a:alpha val="9000"/>
            </a:srgbClr>
          </a:solidFill>
          <a:ln xmlns:a="http://schemas.openxmlformats.org/drawingml/2006/main" w="9525">
            <a:solidFill>
              <a:srgbClr val="443427">
                <a:alpha val="10000"/>
              </a:srgbClr>
            </a:solidFill>
          </a:ln>
        </p:spPr>
      </p:sp>
      <p:sp>
        <p:nvSpPr>
          <p:cNvPr id="22" name="Ce qu’il faut retenir-head">
            <a:extLst xmlns:a="http://schemas.openxmlformats.org/drawingml/2006/main">
              <a:ext uri="{FF2B5EF4-FFF2-40B4-BE49-F238E27FC236}">
                <a16:creationId xmlns:a16="http://schemas.microsoft.com/office/drawing/2014/main" id="{D4ED0FC7-DC9D-46E5-84E3-8B7078D2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Ce qu’il faut retenir</a:t>
            </a:r>
          </a:p>
        </p:txBody>
      </p:sp>
      <p:sp>
        <p:nvSpPr>
          <p:cNvPr id="23" name="Ce qu’il faut retenir-body">
            <a:extLst xmlns:a="http://schemas.openxmlformats.org/drawingml/2006/main">
              <a:ext uri="{FF2B5EF4-FFF2-40B4-BE49-F238E27FC236}">
                <a16:creationId xmlns:a16="http://schemas.microsoft.com/office/drawing/2014/main" id="{E11512C3-895A-431C-963C-77C18371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57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 projet n’a pas cherché à empiler des écrans. Il a remis de l’ordre dans la circulation de l’information: qui agit, quand, sur quoi, et ce qui reste à faire. C’est ça qui rend l’outil exploitable au quotidien.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D3819-3F6B-46AA-9F03-685F8DC8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87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1F1B">
              <a:alpha val="96000"/>
            </a:srgbClr>
          </a:solidFill>
          <a:ln xmlns:a="http://schemas.openxmlformats.org/drawingml/2006/main" w="0">
            <a:solidFill>
              <a:srgbClr val="231F1B">
                <a:alpha val="9600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7F474-BAC3-4D90-A341-45CE3478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6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6EB"/>
                </a:solidFill>
                <a:latin typeface="Aptos"/>
                <a:ea typeface="Aptos"/>
                <a:cs typeface="Aptos"/>
              </a:rPr>
              <a:t>Si vous voulez, je peux maintenant vous montrer le parcours en démo ou passer aux questions.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28CE62-9301-46C3-99A3-5E77B6BF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959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6EB"/>
                </a:solidFill>
                <a:latin typeface="Aptos"/>
                <a:ea typeface="Aptos"/>
                <a:cs typeface="Aptos"/>
              </a:rPr>
              <a:t>Merci.</a:t>
            </a:r>
          </a:p>
        </p:txBody>
      </p:sp>
      <p:sp>
        <p:nvSpPr>
          <p:cNvPr id="2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2843277-9811-4913-B7C7-14AA9D2C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427">
              <a:alpha val="10000"/>
            </a:srgbClr>
          </a:solidFill>
          <a:ln xmlns:a="http://schemas.openxmlformats.org/drawingml/2006/main" w="0">
            <a:solidFill>
              <a:srgbClr val="443427">
                <a:alpha val="10000"/>
              </a:srgbClr>
            </a:solidFill>
          </a:ln>
        </p:spPr>
      </p:sp>
      <p:sp>
        <p:nvSpPr>
          <p:cNvPr id="2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9279244-2065-4EBA-BED7-39156C81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Hestia Predict</a:t>
            </a:r>
          </a:p>
        </p:txBody>
      </p:sp>
      <p:sp>
        <p:nvSpPr>
          <p:cNvPr id="29" name="footer-mode">
            <a:extLst xmlns:a="http://schemas.openxmlformats.org/drawingml/2006/main">
              <a:ext uri="{FF2B5EF4-FFF2-40B4-BE49-F238E27FC236}">
                <a16:creationId xmlns:a16="http://schemas.microsoft.com/office/drawing/2014/main" id="{1400E31E-8F5B-477B-A45D-72CF6FE1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Version commentaire</a:t>
            </a:r>
          </a:p>
        </p:txBody>
      </p:sp>
      <p:sp>
        <p:nvSpPr>
          <p:cNvPr id="30" name="script-band">
            <a:extLst xmlns:a="http://schemas.openxmlformats.org/drawingml/2006/main">
              <a:ext uri="{FF2B5EF4-FFF2-40B4-BE49-F238E27FC236}">
                <a16:creationId xmlns:a16="http://schemas.microsoft.com/office/drawing/2014/main" id="{C9B870DD-F3AC-4546-8C52-0E331E30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F1B">
              <a:alpha val="95000"/>
            </a:srgbClr>
          </a:solidFill>
          <a:ln xmlns:a="http://schemas.openxmlformats.org/drawingml/2006/main" w="0">
            <a:solidFill>
              <a:srgbClr val="231F1B">
                <a:alpha val="95000"/>
              </a:srgbClr>
            </a:solidFill>
          </a:ln>
        </p:spPr>
      </p:sp>
      <p:sp>
        <p:nvSpPr>
          <p:cNvPr id="31" name="script-label">
            <a:extLst xmlns:a="http://schemas.openxmlformats.org/drawingml/2006/main">
              <a:ext uri="{FF2B5EF4-FFF2-40B4-BE49-F238E27FC236}">
                <a16:creationId xmlns:a16="http://schemas.microsoft.com/office/drawing/2014/main" id="{6B41387F-82CF-4029-9F59-A404755E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9D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D9C5"/>
                </a:solidFill>
                <a:latin typeface="Aptos"/>
                <a:ea typeface="Aptos"/>
                <a:cs typeface="Aptos"/>
              </a:rPr>
              <a:t>À DIRE</a:t>
            </a:r>
          </a:p>
        </p:txBody>
      </p:sp>
      <p:sp>
        <p:nvSpPr>
          <p:cNvPr id="32" name="script-text">
            <a:extLst xmlns:a="http://schemas.openxmlformats.org/drawingml/2006/main">
              <a:ext uri="{FF2B5EF4-FFF2-40B4-BE49-F238E27FC236}">
                <a16:creationId xmlns:a16="http://schemas.microsoft.com/office/drawing/2014/main" id="{232B17D5-94F6-42C0-8416-0D5D0EDC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6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6EB"/>
                </a:solidFill>
                <a:latin typeface="Aptos"/>
                <a:ea typeface="Aptos"/>
                <a:cs typeface="Aptos"/>
              </a:rPr>
              <a:t>À la fin, l’idée est simple: on a réduit les erreurs, mieux tracé les actions et rendu le tableau de bord lisible. Du coup, la réservation n’est plus juste stockée, elle est racontée.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87fd602db45f4">
            <a:extLst>
              <a:ext uri="{96DAC541-7B7A-43D3-8B79-37D633B846F1}">
                <asvg:svgBlip xmlns:asvg="http://schemas.microsoft.com/office/drawing/2016/SVG/main" r:embed="Rd8a9f0cd724c40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628900"/>
            <a:ext cx="171450" cy="1714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c66ca5e3746b3">
            <a:extLst>
              <a:ext uri="{96DAC541-7B7A-43D3-8B79-37D633B846F1}">
                <asvg:svgBlip xmlns:asvg="http://schemas.microsoft.com/office/drawing/2016/SVG/main" r:embed="Rc9953008c8944a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67200" y="2628900"/>
            <a:ext cx="171450" cy="1714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4703b422f4348">
            <a:extLst>
              <a:ext uri="{96DAC541-7B7A-43D3-8B79-37D633B846F1}">
                <asvg:svgBlip xmlns:asvg="http://schemas.microsoft.com/office/drawing/2016/SVG/main" r:embed="R84fd2f494dbb4d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58100" y="2628900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83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2026-06-18T09:59:03.4230000Z</dcterms:created>
  <dcterms:modified xsi:type="dcterms:W3CDTF">2026-06-18T09:59:03.4230000Z</dcterms:modified>
</coreProperties>
</file>