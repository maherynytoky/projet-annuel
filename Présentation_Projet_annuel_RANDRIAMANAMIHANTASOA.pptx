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g">
            <a:extLst>
              <a:ext uri="{FF2B5EF4-FFF2-40B4-BE49-F238E27FC236}">
                <a16:creationId xmlns:a16="http://schemas.microsoft.com/office/drawing/2014/main" id="{47C1F058-0E7F-4899-9F69-3750730EE1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EA"/>
          </a:solidFill>
          <a:ln w="0">
            <a:solidFill>
              <a:srgbClr val="FBF4EA"/>
            </a:solidFill>
          </a:ln>
        </p:spPr>
      </p:sp>
      <p:sp>
        <p:nvSpPr>
          <p:cNvPr id="2" name="orb-a">
            <a:extLst>
              <a:ext uri="{FF2B5EF4-FFF2-40B4-BE49-F238E27FC236}">
                <a16:creationId xmlns:a16="http://schemas.microsoft.com/office/drawing/2014/main" id="{BAE7EE06-B8E7-43EC-9D77-ECA94A1B9CFE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953000" cy="3048000"/>
          </a:xfrm>
          <a:prstGeom prst="ellipse">
            <a:avLst/>
          </a:prstGeom>
          <a:solidFill>
            <a:srgbClr val="1F7665">
              <a:alpha val="7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>
              <a:ext uri="{FF2B5EF4-FFF2-40B4-BE49-F238E27FC236}">
                <a16:creationId xmlns:a16="http://schemas.microsoft.com/office/drawing/2014/main" id="{FB78D9DF-7DFB-4C67-A082-AD53448ADDFC}"/>
              </a:ext>
            </a:extLst>
          </p:cNvPr>
          <p:cNvSpPr>
            <a:spLocks noGrp="1"/>
          </p:cNvSpPr>
          <p:nvPr/>
        </p:nvSpPr>
        <p:spPr>
          <a:xfrm>
            <a:off x="7810500" y="-952500"/>
            <a:ext cx="4953000" cy="3048000"/>
          </a:xfrm>
          <a:prstGeom prst="ellipse">
            <a:avLst/>
          </a:prstGeom>
          <a:solidFill>
            <a:srgbClr val="443427">
              <a:alpha val="6000"/>
            </a:srgbClr>
          </a:solidFill>
          <a:ln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>
              <a:ext uri="{FF2B5EF4-FFF2-40B4-BE49-F238E27FC236}">
                <a16:creationId xmlns:a16="http://schemas.microsoft.com/office/drawing/2014/main" id="{5EB9C420-884D-49B0-B0C6-9B0341E06151}"/>
              </a:ext>
            </a:extLst>
          </p:cNvPr>
          <p:cNvSpPr>
            <a:spLocks noGrp="1"/>
          </p:cNvSpPr>
          <p:nvPr/>
        </p:nvSpPr>
        <p:spPr>
          <a:xfrm>
            <a:off x="8763000" y="4476750"/>
            <a:ext cx="4000500" cy="2476500"/>
          </a:xfrm>
          <a:prstGeom prst="ellipse">
            <a:avLst/>
          </a:prstGeom>
          <a:solidFill>
            <a:srgbClr val="1F7665">
              <a:alpha val="5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>
              <a:ext uri="{FF2B5EF4-FFF2-40B4-BE49-F238E27FC236}">
                <a16:creationId xmlns:a16="http://schemas.microsoft.com/office/drawing/2014/main" id="{78710FFD-5074-4D73-B345-B7B709E07D6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66675" cy="66675"/>
          </a:xfrm>
          <a:prstGeom prst="ellipse">
            <a:avLst/>
          </a:prstGeom>
          <a:solidFill>
            <a:srgbClr val="1F7665"/>
          </a:solidFill>
          <a:ln w="0">
            <a:solidFill>
              <a:srgbClr val="1F7665"/>
            </a:solidFill>
          </a:ln>
        </p:spPr>
      </p:sp>
      <p:sp>
        <p:nvSpPr>
          <p:cNvPr id="6" name="kicker-text">
            <a:extLst>
              <a:ext uri="{FF2B5EF4-FFF2-40B4-BE49-F238E27FC236}">
                <a16:creationId xmlns:a16="http://schemas.microsoft.com/office/drawing/2014/main" id="{DFF8B442-E1AF-43BB-9DCD-422D92217277}"/>
              </a:ext>
            </a:extLst>
          </p:cNvPr>
          <p:cNvSpPr>
            <a:spLocks noGrp="1"/>
          </p:cNvSpPr>
          <p:nvPr/>
        </p:nvSpPr>
        <p:spPr>
          <a:xfrm>
            <a:off x="762000" y="438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PROJET DE SOUTENANCE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B635EDB-84AF-40B7-A800-61E0ACD322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5810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Un seul système pour réserver, accueillir et tracer.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CA087DC-EA41-4A17-8B96-31AFD3AF7482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Flutter gère le terrain, Laravel garde la logique métier, et le dashboard rend les actions lisibles en temps réel.</a:t>
            </a:r>
          </a:p>
        </p:txBody>
      </p:sp>
      <p:sp>
        <p:nvSpPr>
          <p:cNvPr id="9" name="pill-Flutter">
            <a:extLst>
              <a:ext uri="{FF2B5EF4-FFF2-40B4-BE49-F238E27FC236}">
                <a16:creationId xmlns:a16="http://schemas.microsoft.com/office/drawing/2014/main" id="{E93769B6-DD5B-48B0-B7E6-43974635B0C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933450" cy="285750"/>
          </a:xfrm>
          <a:prstGeom prst="roundRect">
            <a:avLst>
              <a:gd name="adj" fmla="val 26667"/>
            </a:avLst>
          </a:prstGeom>
          <a:solidFill>
            <a:srgbClr val="1F7665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pill-text-Flutter">
            <a:extLst>
              <a:ext uri="{FF2B5EF4-FFF2-40B4-BE49-F238E27FC236}">
                <a16:creationId xmlns:a16="http://schemas.microsoft.com/office/drawing/2014/main" id="{5F3D87CC-BD98-4596-B39A-C9C2574488EC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Flutter</a:t>
            </a:r>
          </a:p>
        </p:txBody>
      </p:sp>
      <p:sp>
        <p:nvSpPr>
          <p:cNvPr id="11" name="pill-Laravel">
            <a:extLst>
              <a:ext uri="{FF2B5EF4-FFF2-40B4-BE49-F238E27FC236}">
                <a16:creationId xmlns:a16="http://schemas.microsoft.com/office/drawing/2014/main" id="{52594A6C-C540-4081-AB2E-D1B0EF187C30}"/>
              </a:ext>
            </a:extLst>
          </p:cNvPr>
          <p:cNvSpPr>
            <a:spLocks noGrp="1"/>
          </p:cNvSpPr>
          <p:nvPr/>
        </p:nvSpPr>
        <p:spPr>
          <a:xfrm>
            <a:off x="1638300" y="2000250"/>
            <a:ext cx="933450" cy="285750"/>
          </a:xfrm>
          <a:prstGeom prst="roundRect">
            <a:avLst>
              <a:gd name="adj" fmla="val 26667"/>
            </a:avLst>
          </a:prstGeom>
          <a:solidFill>
            <a:srgbClr val="231F1B">
              <a:alpha val="5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2" name="pill-text-Laravel">
            <a:extLst>
              <a:ext uri="{FF2B5EF4-FFF2-40B4-BE49-F238E27FC236}">
                <a16:creationId xmlns:a16="http://schemas.microsoft.com/office/drawing/2014/main" id="{429C8009-057A-4387-ACB5-9711149E0515}"/>
              </a:ext>
            </a:extLst>
          </p:cNvPr>
          <p:cNvSpPr>
            <a:spLocks noGrp="1"/>
          </p:cNvSpPr>
          <p:nvPr/>
        </p:nvSpPr>
        <p:spPr>
          <a:xfrm>
            <a:off x="1752600" y="205740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Laravel</a:t>
            </a:r>
          </a:p>
        </p:txBody>
      </p:sp>
      <p:sp>
        <p:nvSpPr>
          <p:cNvPr id="13" name="pill-Dashboard">
            <a:extLst>
              <a:ext uri="{FF2B5EF4-FFF2-40B4-BE49-F238E27FC236}">
                <a16:creationId xmlns:a16="http://schemas.microsoft.com/office/drawing/2014/main" id="{13C3B591-DA78-4082-86CF-9B54C5B3B52E}"/>
              </a:ext>
            </a:extLst>
          </p:cNvPr>
          <p:cNvSpPr>
            <a:spLocks noGrp="1"/>
          </p:cNvSpPr>
          <p:nvPr/>
        </p:nvSpPr>
        <p:spPr>
          <a:xfrm>
            <a:off x="2667000" y="20002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443427">
              <a:alpha val="8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4" name="pill-text-Dashboard">
            <a:extLst>
              <a:ext uri="{FF2B5EF4-FFF2-40B4-BE49-F238E27FC236}">
                <a16:creationId xmlns:a16="http://schemas.microsoft.com/office/drawing/2014/main" id="{04CEEBFE-DB97-4F19-A5A2-2D983E81280D}"/>
              </a:ext>
            </a:extLst>
          </p:cNvPr>
          <p:cNvSpPr>
            <a:spLocks noGrp="1"/>
          </p:cNvSpPr>
          <p:nvPr/>
        </p:nvSpPr>
        <p:spPr>
          <a:xfrm>
            <a:off x="2781300" y="20574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0A939BB9-13FF-4D6C-BDF3-B29B56A4892F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2457450" cy="990600"/>
          </a:xfrm>
          <a:prstGeom prst="roundRect">
            <a:avLst>
              <a:gd name="adj" fmla="val 7692"/>
            </a:avLst>
          </a:prstGeom>
          <a:solidFill>
            <a:srgbClr val="F7EFE3">
              <a:alpha val="9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6" name="Ce que le projet évite-head">
            <a:extLst>
              <a:ext uri="{FF2B5EF4-FFF2-40B4-BE49-F238E27FC236}">
                <a16:creationId xmlns:a16="http://schemas.microsoft.com/office/drawing/2014/main" id="{38F6FE87-99FD-40C2-9B39-764DA4B6BEC9}"/>
              </a:ext>
            </a:extLst>
          </p:cNvPr>
          <p:cNvSpPr>
            <a:spLocks noGrp="1"/>
          </p:cNvSpPr>
          <p:nvPr/>
        </p:nvSpPr>
        <p:spPr>
          <a:xfrm>
            <a:off x="762000" y="2628900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Ce que le projet évite</a:t>
            </a:r>
          </a:p>
        </p:txBody>
      </p:sp>
      <p:sp>
        <p:nvSpPr>
          <p:cNvPr id="17" name="Ce que le projet évite-body">
            <a:extLst>
              <a:ext uri="{FF2B5EF4-FFF2-40B4-BE49-F238E27FC236}">
                <a16:creationId xmlns:a16="http://schemas.microsoft.com/office/drawing/2014/main" id="{E0B4675B-3237-4E2B-B503-C4021BDDB348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2152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Les doublons de saisie, les réservations sans contexte, et les actions qu’on ne peut plus expliquer après coup.</a:t>
            </a: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0D694180-B798-4C63-9EE4-83BAEEA5347E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3238500" cy="990600"/>
          </a:xfrm>
          <a:prstGeom prst="roundRect">
            <a:avLst>
              <a:gd name="adj" fmla="val 7692"/>
            </a:avLst>
          </a:prstGeom>
          <a:solidFill>
            <a:srgbClr val="1F7665">
              <a:alpha val="9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9" name="Ce que l’interface montre-head">
            <a:extLst>
              <a:ext uri="{FF2B5EF4-FFF2-40B4-BE49-F238E27FC236}">
                <a16:creationId xmlns:a16="http://schemas.microsoft.com/office/drawing/2014/main" id="{0D8D0FCE-09D1-40B7-B770-566191E68161}"/>
              </a:ext>
            </a:extLst>
          </p:cNvPr>
          <p:cNvSpPr>
            <a:spLocks noGrp="1"/>
          </p:cNvSpPr>
          <p:nvPr/>
        </p:nvSpPr>
        <p:spPr>
          <a:xfrm>
            <a:off x="3333750" y="2628900"/>
            <a:ext cx="2933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que l’interface montre</a:t>
            </a:r>
          </a:p>
        </p:txBody>
      </p:sp>
      <p:sp>
        <p:nvSpPr>
          <p:cNvPr id="20" name="Ce que l’interface montre-body">
            <a:extLst>
              <a:ext uri="{FF2B5EF4-FFF2-40B4-BE49-F238E27FC236}">
                <a16:creationId xmlns:a16="http://schemas.microsoft.com/office/drawing/2014/main" id="{B468A2A5-A4ED-433D-9855-C80FF5397894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933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Qui a pris, qui a fait le check-in, qui a encaissé, qui a modifié, et combien il reste à payer.</a:t>
            </a:r>
          </a:p>
        </p:txBody>
      </p:sp>
      <p:sp>
        <p:nvSpPr>
          <p:cNvPr id="21" name="phone-body">
            <a:extLst>
              <a:ext uri="{FF2B5EF4-FFF2-40B4-BE49-F238E27FC236}">
                <a16:creationId xmlns:a16="http://schemas.microsoft.com/office/drawing/2014/main" id="{766CC65E-92A4-4122-B219-EEF0CB317CF8}"/>
              </a:ext>
            </a:extLst>
          </p:cNvPr>
          <p:cNvSpPr>
            <a:spLocks noGrp="1"/>
          </p:cNvSpPr>
          <p:nvPr/>
        </p:nvSpPr>
        <p:spPr>
          <a:xfrm>
            <a:off x="7067550" y="1123950"/>
            <a:ext cx="1905000" cy="4095750"/>
          </a:xfrm>
          <a:prstGeom prst="roundRect">
            <a:avLst>
              <a:gd name="adj" fmla="val 4000"/>
            </a:avLst>
          </a:prstGeom>
          <a:solidFill>
            <a:srgbClr val="1F1A17"/>
          </a:solidFill>
          <a:ln w="0">
            <a:solidFill>
              <a:srgbClr val="1F1A17"/>
            </a:solidFill>
          </a:ln>
        </p:spPr>
      </p:sp>
      <p:sp>
        <p:nvSpPr>
          <p:cNvPr id="22" name="phone-screen">
            <a:extLst>
              <a:ext uri="{FF2B5EF4-FFF2-40B4-BE49-F238E27FC236}">
                <a16:creationId xmlns:a16="http://schemas.microsoft.com/office/drawing/2014/main" id="{BE0E9843-C016-442F-93F1-F9577BADB52A}"/>
              </a:ext>
            </a:extLst>
          </p:cNvPr>
          <p:cNvSpPr>
            <a:spLocks noGrp="1"/>
          </p:cNvSpPr>
          <p:nvPr/>
        </p:nvSpPr>
        <p:spPr>
          <a:xfrm>
            <a:off x="7143750" y="1276350"/>
            <a:ext cx="1752600" cy="3867150"/>
          </a:xfrm>
          <a:prstGeom prst="roundRect">
            <a:avLst>
              <a:gd name="adj" fmla="val 4348"/>
            </a:avLst>
          </a:prstGeom>
          <a:solidFill>
            <a:srgbClr val="FFF9EF"/>
          </a:solidFill>
          <a:ln w="9525">
            <a:solidFill>
              <a:srgbClr val="E3D4C0"/>
            </a:solidFill>
          </a:ln>
        </p:spPr>
      </p:sp>
      <p:sp>
        <p:nvSpPr>
          <p:cNvPr id="23" name="phone-speaker">
            <a:extLst>
              <a:ext uri="{FF2B5EF4-FFF2-40B4-BE49-F238E27FC236}">
                <a16:creationId xmlns:a16="http://schemas.microsoft.com/office/drawing/2014/main" id="{0615FFA4-BE27-44AD-8B15-660A47263BA8}"/>
              </a:ext>
            </a:extLst>
          </p:cNvPr>
          <p:cNvSpPr>
            <a:spLocks noGrp="1"/>
          </p:cNvSpPr>
          <p:nvPr/>
        </p:nvSpPr>
        <p:spPr>
          <a:xfrm>
            <a:off x="7848600" y="1181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4B443D"/>
          </a:solidFill>
          <a:ln w="0">
            <a:solidFill>
              <a:srgbClr val="4B443D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C6F1C6-7597-46E3-80AC-E6A57035EAF6}"/>
              </a:ext>
            </a:extLst>
          </p:cNvPr>
          <p:cNvSpPr>
            <a:spLocks noGrp="1"/>
          </p:cNvSpPr>
          <p:nvPr/>
        </p:nvSpPr>
        <p:spPr>
          <a:xfrm>
            <a:off x="7334250" y="13144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Nouvelle arrivée</a:t>
            </a:r>
          </a:p>
        </p:txBody>
      </p:sp>
      <p:pic>
        <p:nvPicPr>
          <p:cNvPr id="25" name="Graphique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353300" y="1571625"/>
            <a:ext cx="190500" cy="1905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BB7DF46-324D-43E6-AC0E-469A6A8A1D42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18/06 à 19/06</a:t>
            </a:r>
          </a:p>
        </p:txBody>
      </p:sp>
      <p:pic>
        <p:nvPicPr>
          <p:cNvPr id="27" name="Graphique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53300" y="1866900"/>
            <a:ext cx="190500" cy="1905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CEA7D18-7A64-46EB-9E68-1ECDB38C849B}"/>
              </a:ext>
            </a:extLst>
          </p:cNvPr>
          <p:cNvSpPr>
            <a:spLocks noGrp="1"/>
          </p:cNvSpPr>
          <p:nvPr/>
        </p:nvSpPr>
        <p:spPr>
          <a:xfrm>
            <a:off x="7620000" y="18573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Chambre 02</a:t>
            </a:r>
          </a:p>
        </p:txBody>
      </p:sp>
      <p:pic>
        <p:nvPicPr>
          <p:cNvPr id="29" name="Graphique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353300" y="2162175"/>
            <a:ext cx="190500" cy="1905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C62C434-C277-4AB4-99A3-9DC9A112AC3A}"/>
              </a:ext>
            </a:extLst>
          </p:cNvPr>
          <p:cNvSpPr>
            <a:spLocks noGrp="1"/>
          </p:cNvSpPr>
          <p:nvPr/>
        </p:nvSpPr>
        <p:spPr>
          <a:xfrm>
            <a:off x="7620000" y="21526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Reste à payer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8761AC1-30AE-4115-B56D-E67031DD6C58}"/>
              </a:ext>
            </a:extLst>
          </p:cNvPr>
          <p:cNvSpPr>
            <a:spLocks noGrp="1"/>
          </p:cNvSpPr>
          <p:nvPr/>
        </p:nvSpPr>
        <p:spPr>
          <a:xfrm>
            <a:off x="7239000" y="2524125"/>
            <a:ext cx="1562100" cy="1028700"/>
          </a:xfrm>
          <a:prstGeom prst="roundRect">
            <a:avLst>
              <a:gd name="adj" fmla="val 7407"/>
            </a:avLst>
          </a:prstGeom>
          <a:solidFill>
            <a:srgbClr val="1F7665">
              <a:alpha val="10000"/>
            </a:srgbClr>
          </a:solidFill>
          <a:ln w="9525">
            <a:solidFill>
              <a:srgbClr val="1F7665">
                <a:alpha val="1800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B8E2FE-18EE-4D3C-8D55-C380BA133890}"/>
              </a:ext>
            </a:extLst>
          </p:cNvPr>
          <p:cNvSpPr>
            <a:spLocks noGrp="1"/>
          </p:cNvSpPr>
          <p:nvPr/>
        </p:nvSpPr>
        <p:spPr>
          <a:xfrm>
            <a:off x="7391400" y="268605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Audit visible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BE9893-32F6-42F5-84FB-2D2E1E5D0CC4}"/>
              </a:ext>
            </a:extLst>
          </p:cNvPr>
          <p:cNvSpPr>
            <a:spLocks noGrp="1"/>
          </p:cNvSpPr>
          <p:nvPr/>
        </p:nvSpPr>
        <p:spPr>
          <a:xfrm>
            <a:off x="7391400" y="2876550"/>
            <a:ext cx="1257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Modifié par • Check-in par • Paiement par</a:t>
            </a:r>
          </a:p>
        </p:txBody>
      </p:sp>
      <p:sp>
        <p:nvSpPr>
          <p:cNvPr id="34" name="card">
            <a:extLst>
              <a:ext uri="{FF2B5EF4-FFF2-40B4-BE49-F238E27FC236}">
                <a16:creationId xmlns:a16="http://schemas.microsoft.com/office/drawing/2014/main" id="{20AFEA2E-541D-4286-9DB6-76B6067061EE}"/>
              </a:ext>
            </a:extLst>
          </p:cNvPr>
          <p:cNvSpPr>
            <a:spLocks noGrp="1"/>
          </p:cNvSpPr>
          <p:nvPr/>
        </p:nvSpPr>
        <p:spPr>
          <a:xfrm>
            <a:off x="8629650" y="1123950"/>
            <a:ext cx="2952750" cy="2857500"/>
          </a:xfrm>
          <a:prstGeom prst="roundRect">
            <a:avLst>
              <a:gd name="adj" fmla="val 2667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35" name="dash-header">
            <a:extLst>
              <a:ext uri="{FF2B5EF4-FFF2-40B4-BE49-F238E27FC236}">
                <a16:creationId xmlns:a16="http://schemas.microsoft.com/office/drawing/2014/main" id="{109743DB-D028-4AD9-ABCD-32A537BF5BF1}"/>
              </a:ext>
            </a:extLst>
          </p:cNvPr>
          <p:cNvSpPr>
            <a:spLocks noGrp="1"/>
          </p:cNvSpPr>
          <p:nvPr/>
        </p:nvSpPr>
        <p:spPr>
          <a:xfrm>
            <a:off x="8782050" y="1276350"/>
            <a:ext cx="2647950" cy="247650"/>
          </a:xfrm>
          <a:prstGeom prst="roundRect">
            <a:avLst>
              <a:gd name="adj" fmla="val 30769"/>
            </a:avLst>
          </a:prstGeom>
          <a:solidFill>
            <a:srgbClr val="EFE5D5"/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36" name="dash-title">
            <a:extLst>
              <a:ext uri="{FF2B5EF4-FFF2-40B4-BE49-F238E27FC236}">
                <a16:creationId xmlns:a16="http://schemas.microsoft.com/office/drawing/2014/main" id="{51D37BF1-51D7-4905-8FF1-1A9E46C25C56}"/>
              </a:ext>
            </a:extLst>
          </p:cNvPr>
          <p:cNvSpPr>
            <a:spLocks noGrp="1"/>
          </p:cNvSpPr>
          <p:nvPr/>
        </p:nvSpPr>
        <p:spPr>
          <a:xfrm>
            <a:off x="8877300" y="1323975"/>
            <a:ext cx="2286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Salon des arrivées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80DF8A2-4E8E-4DBD-B858-798F7C077065}"/>
              </a:ext>
            </a:extLst>
          </p:cNvPr>
          <p:cNvSpPr>
            <a:spLocks noGrp="1"/>
          </p:cNvSpPr>
          <p:nvPr/>
        </p:nvSpPr>
        <p:spPr>
          <a:xfrm>
            <a:off x="8820150" y="1524000"/>
            <a:ext cx="704850" cy="647700"/>
          </a:xfrm>
          <a:prstGeom prst="roundRect">
            <a:avLst>
              <a:gd name="adj" fmla="val 11765"/>
            </a:avLst>
          </a:prstGeom>
          <a:solidFill>
            <a:srgbClr val="1F7665">
              <a:alpha val="10000"/>
            </a:srgbClr>
          </a:solidFill>
          <a:ln w="9525">
            <a:solidFill>
              <a:srgbClr val="1F7665">
                <a:alpha val="12000"/>
              </a:srgbClr>
            </a:solidFill>
          </a:ln>
        </p:spPr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9D28D21D-9B47-46CD-9BDA-D0C6AACEBCBE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704850" cy="647700"/>
          </a:xfrm>
          <a:prstGeom prst="roundRect">
            <a:avLst>
              <a:gd name="adj" fmla="val 11765"/>
            </a:avLst>
          </a:prstGeom>
          <a:solidFill>
            <a:srgbClr val="231F1B">
              <a:alpha val="5000"/>
            </a:srgbClr>
          </a:solidFill>
          <a:ln w="9525">
            <a:solidFill>
              <a:srgbClr val="443427">
                <a:alpha val="12000"/>
              </a:srgbClr>
            </a:solidFill>
          </a:ln>
        </p:spPr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908995C0-452D-41F5-BF07-71984D0E4688}"/>
              </a:ext>
            </a:extLst>
          </p:cNvPr>
          <p:cNvSpPr>
            <a:spLocks noGrp="1"/>
          </p:cNvSpPr>
          <p:nvPr/>
        </p:nvSpPr>
        <p:spPr>
          <a:xfrm>
            <a:off x="10420350" y="1524000"/>
            <a:ext cx="704850" cy="647700"/>
          </a:xfrm>
          <a:prstGeom prst="roundRect">
            <a:avLst>
              <a:gd name="adj" fmla="val 11765"/>
            </a:avLst>
          </a:prstGeom>
          <a:solidFill>
            <a:srgbClr val="BE123C">
              <a:alpha val="8000"/>
            </a:srgbClr>
          </a:solidFill>
          <a:ln w="9525">
            <a:solidFill>
              <a:srgbClr val="BE123C">
                <a:alpha val="12000"/>
              </a:srgbClr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B5E44E-FF95-4B48-9A4D-740AA8C01DD5}"/>
              </a:ext>
            </a:extLst>
          </p:cNvPr>
          <p:cNvSpPr>
            <a:spLocks noGrp="1"/>
          </p:cNvSpPr>
          <p:nvPr/>
        </p:nvSpPr>
        <p:spPr>
          <a:xfrm>
            <a:off x="8934450" y="169545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D8CC9A-8182-4374-BE3A-186BDDAEF265}"/>
              </a:ext>
            </a:extLst>
          </p:cNvPr>
          <p:cNvSpPr>
            <a:spLocks noGrp="1"/>
          </p:cNvSpPr>
          <p:nvPr/>
        </p:nvSpPr>
        <p:spPr>
          <a:xfrm>
            <a:off x="9725025" y="169545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12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7E1AD7-619C-4BD5-8FD2-5923725BB15E}"/>
              </a:ext>
            </a:extLst>
          </p:cNvPr>
          <p:cNvSpPr>
            <a:spLocks noGrp="1"/>
          </p:cNvSpPr>
          <p:nvPr/>
        </p:nvSpPr>
        <p:spPr>
          <a:xfrm>
            <a:off x="10534650" y="169545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50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9E577D-7CE6-4D3F-8725-344EB226EF23}"/>
              </a:ext>
            </a:extLst>
          </p:cNvPr>
          <p:cNvSpPr>
            <a:spLocks noGrp="1"/>
          </p:cNvSpPr>
          <p:nvPr/>
        </p:nvSpPr>
        <p:spPr>
          <a:xfrm>
            <a:off x="8839200" y="2019300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arrivées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7E1CC1-DA28-42FF-B408-616FEFBF5CB3}"/>
              </a:ext>
            </a:extLst>
          </p:cNvPr>
          <p:cNvSpPr>
            <a:spLocks noGrp="1"/>
          </p:cNvSpPr>
          <p:nvPr/>
        </p:nvSpPr>
        <p:spPr>
          <a:xfrm>
            <a:off x="9601200" y="2019300"/>
            <a:ext cx="64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paiements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F7E711-238B-4039-9A6B-734CF3AFAC80}"/>
              </a:ext>
            </a:extLst>
          </p:cNvPr>
          <p:cNvSpPr>
            <a:spLocks noGrp="1"/>
          </p:cNvSpPr>
          <p:nvPr/>
        </p:nvSpPr>
        <p:spPr>
          <a:xfrm>
            <a:off x="10382250" y="201930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modifications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93FE716A-17FE-4BDB-9161-BE11202A9C3A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2552700" cy="1409700"/>
          </a:xfrm>
          <a:prstGeom prst="roundRect">
            <a:avLst>
              <a:gd name="adj" fmla="val 5405"/>
            </a:avLst>
          </a:prstGeom>
          <a:solidFill>
            <a:srgbClr val="FFFFFF">
              <a:alpha val="7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AA56AE-BD4C-4C83-AE0B-C49049CE324C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125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Le tableau devient un salon d’arrivée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36FB4E-3FA6-4CDD-8AF8-E5AD93187220}"/>
              </a:ext>
            </a:extLst>
          </p:cNvPr>
          <p:cNvSpPr>
            <a:spLocks noGrp="1"/>
          </p:cNvSpPr>
          <p:nvPr/>
        </p:nvSpPr>
        <p:spPr>
          <a:xfrm>
            <a:off x="8934450" y="2857500"/>
            <a:ext cx="2190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L’idée n’est pas juste d’afficher des lignes. Il faut comprendre qui agit, sur quoi, et ce qui reste à régler.</a:t>
            </a:r>
          </a:p>
        </p:txBody>
      </p:sp>
      <p:sp>
        <p:nvSpPr>
          <p:cNvPr id="49" name="footer-rule">
            <a:extLst>
              <a:ext uri="{FF2B5EF4-FFF2-40B4-BE49-F238E27FC236}">
                <a16:creationId xmlns:a16="http://schemas.microsoft.com/office/drawing/2014/main" id="{288B6785-DCFC-4053-A47A-EFF21747DE8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443427">
              <a:alpha val="10000"/>
            </a:srgbClr>
          </a:solidFill>
          <a:ln w="0">
            <a:solidFill>
              <a:srgbClr val="443427">
                <a:alpha val="10000"/>
              </a:srgbClr>
            </a:solidFill>
          </a:ln>
        </p:spPr>
      </p:sp>
      <p:sp>
        <p:nvSpPr>
          <p:cNvPr id="50" name="footer-label">
            <a:extLst>
              <a:ext uri="{FF2B5EF4-FFF2-40B4-BE49-F238E27FC236}">
                <a16:creationId xmlns:a16="http://schemas.microsoft.com/office/drawing/2014/main" id="{A8FE273B-B7BA-46C7-9DC0-F559C1A0B97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228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51" name="footer-mode">
            <a:extLst>
              <a:ext uri="{FF2B5EF4-FFF2-40B4-BE49-F238E27FC236}">
                <a16:creationId xmlns:a16="http://schemas.microsoft.com/office/drawing/2014/main" id="{3CE7CDF4-86BF-4CB4-A9FF-C7A210518386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visuelle</a:t>
            </a:r>
          </a:p>
        </p:txBody>
      </p:sp>
    </p:spTree>
    <p:extLst>
      <p:ext uri="{BB962C8B-B14F-4D97-AF65-F5344CB8AC3E}">
        <p14:creationId xmlns:p14="http://schemas.microsoft.com/office/powerpoint/2010/main" val="110896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g">
            <a:extLst>
              <a:ext uri="{FF2B5EF4-FFF2-40B4-BE49-F238E27FC236}">
                <a16:creationId xmlns:a16="http://schemas.microsoft.com/office/drawing/2014/main" id="{9985052E-85B8-4F65-A088-BFBCBA7F75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EA"/>
          </a:solidFill>
          <a:ln w="0">
            <a:solidFill>
              <a:srgbClr val="FBF4EA"/>
            </a:solidFill>
          </a:ln>
        </p:spPr>
      </p:sp>
      <p:sp>
        <p:nvSpPr>
          <p:cNvPr id="2" name="orb-a">
            <a:extLst>
              <a:ext uri="{FF2B5EF4-FFF2-40B4-BE49-F238E27FC236}">
                <a16:creationId xmlns:a16="http://schemas.microsoft.com/office/drawing/2014/main" id="{EE695F6F-192E-4DB9-838B-2BC76BCC0C12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953000" cy="3048000"/>
          </a:xfrm>
          <a:prstGeom prst="ellipse">
            <a:avLst/>
          </a:prstGeom>
          <a:solidFill>
            <a:srgbClr val="1F7665">
              <a:alpha val="7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>
              <a:ext uri="{FF2B5EF4-FFF2-40B4-BE49-F238E27FC236}">
                <a16:creationId xmlns:a16="http://schemas.microsoft.com/office/drawing/2014/main" id="{D44FEDF5-6B46-43B1-BC26-61C8FE38DFAA}"/>
              </a:ext>
            </a:extLst>
          </p:cNvPr>
          <p:cNvSpPr>
            <a:spLocks noGrp="1"/>
          </p:cNvSpPr>
          <p:nvPr/>
        </p:nvSpPr>
        <p:spPr>
          <a:xfrm>
            <a:off x="7810500" y="-952500"/>
            <a:ext cx="4953000" cy="3048000"/>
          </a:xfrm>
          <a:prstGeom prst="ellipse">
            <a:avLst/>
          </a:prstGeom>
          <a:solidFill>
            <a:srgbClr val="443427">
              <a:alpha val="6000"/>
            </a:srgbClr>
          </a:solidFill>
          <a:ln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>
              <a:ext uri="{FF2B5EF4-FFF2-40B4-BE49-F238E27FC236}">
                <a16:creationId xmlns:a16="http://schemas.microsoft.com/office/drawing/2014/main" id="{6BEE7398-B468-42C0-A5CB-8A591BF13A76}"/>
              </a:ext>
            </a:extLst>
          </p:cNvPr>
          <p:cNvSpPr>
            <a:spLocks noGrp="1"/>
          </p:cNvSpPr>
          <p:nvPr/>
        </p:nvSpPr>
        <p:spPr>
          <a:xfrm>
            <a:off x="8763000" y="4476750"/>
            <a:ext cx="4000500" cy="2476500"/>
          </a:xfrm>
          <a:prstGeom prst="ellipse">
            <a:avLst/>
          </a:prstGeom>
          <a:solidFill>
            <a:srgbClr val="1F7665">
              <a:alpha val="5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>
              <a:ext uri="{FF2B5EF4-FFF2-40B4-BE49-F238E27FC236}">
                <a16:creationId xmlns:a16="http://schemas.microsoft.com/office/drawing/2014/main" id="{6471E337-7874-4271-A4DE-ACC50E6720A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66675" cy="66675"/>
          </a:xfrm>
          <a:prstGeom prst="ellipse">
            <a:avLst/>
          </a:prstGeom>
          <a:solidFill>
            <a:srgbClr val="1F7665"/>
          </a:solidFill>
          <a:ln w="0">
            <a:solidFill>
              <a:srgbClr val="1F7665"/>
            </a:solidFill>
          </a:ln>
        </p:spPr>
      </p:sp>
      <p:sp>
        <p:nvSpPr>
          <p:cNvPr id="6" name="kicker-text">
            <a:extLst>
              <a:ext uri="{FF2B5EF4-FFF2-40B4-BE49-F238E27FC236}">
                <a16:creationId xmlns:a16="http://schemas.microsoft.com/office/drawing/2014/main" id="{CA3FA96E-F05D-4C46-A2DE-E52F9F832142}"/>
              </a:ext>
            </a:extLst>
          </p:cNvPr>
          <p:cNvSpPr>
            <a:spLocks noGrp="1"/>
          </p:cNvSpPr>
          <p:nvPr/>
        </p:nvSpPr>
        <p:spPr>
          <a:xfrm>
            <a:off x="762000" y="438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53F856-B27B-4958-8473-C61A5EA2C51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628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Trois blocs, mais un seul flux métier qui tient la route.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9F8792A1-43A8-48C7-9C7B-0E004218917F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28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L’app terrain, le backend Laravel et le dashboard partagent la même réservation. Ça évite les vues parallèles qui se contredisent.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7510BA16-63B0-481B-A721-D3090784D154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200400" cy="2381250"/>
          </a:xfrm>
          <a:prstGeom prst="roundRect">
            <a:avLst>
              <a:gd name="adj" fmla="val 3200"/>
            </a:avLst>
          </a:prstGeom>
          <a:solidFill>
            <a:srgbClr val="1F7665">
              <a:alpha val="8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902DEF15-21A4-43E7-889A-25D92E3B692E}"/>
              </a:ext>
            </a:extLst>
          </p:cNvPr>
          <p:cNvSpPr>
            <a:spLocks noGrp="1"/>
          </p:cNvSpPr>
          <p:nvPr/>
        </p:nvSpPr>
        <p:spPr>
          <a:xfrm>
            <a:off x="4076700" y="2333625"/>
            <a:ext cx="3200400" cy="2381250"/>
          </a:xfrm>
          <a:prstGeom prst="roundRect">
            <a:avLst>
              <a:gd name="adj" fmla="val 32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F61871FF-9290-44C4-86AB-0B16A5A4A436}"/>
              </a:ext>
            </a:extLst>
          </p:cNvPr>
          <p:cNvSpPr>
            <a:spLocks noGrp="1"/>
          </p:cNvSpPr>
          <p:nvPr/>
        </p:nvSpPr>
        <p:spPr>
          <a:xfrm>
            <a:off x="7543800" y="2333625"/>
            <a:ext cx="3200400" cy="2381250"/>
          </a:xfrm>
          <a:prstGeom prst="roundRect">
            <a:avLst>
              <a:gd name="adj" fmla="val 3200"/>
            </a:avLst>
          </a:prstGeom>
          <a:solidFill>
            <a:srgbClr val="231F1B">
              <a:alpha val="4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pic>
        <p:nvPicPr>
          <p:cNvPr id="12" name="Graphiqu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0100" y="2505075"/>
            <a:ext cx="266700" cy="2667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F47DE3D-2F17-4CD8-A7CF-49DE5F1AD2F0}"/>
              </a:ext>
            </a:extLst>
          </p:cNvPr>
          <p:cNvSpPr>
            <a:spLocks noGrp="1"/>
          </p:cNvSpPr>
          <p:nvPr/>
        </p:nvSpPr>
        <p:spPr>
          <a:xfrm>
            <a:off x="1162050" y="25050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Flutter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55268-F491-4F40-B24C-D8B518A31227}"/>
              </a:ext>
            </a:extLst>
          </p:cNvPr>
          <p:cNvSpPr>
            <a:spLocks noGrp="1"/>
          </p:cNvSpPr>
          <p:nvPr/>
        </p:nvSpPr>
        <p:spPr>
          <a:xfrm>
            <a:off x="800100" y="2867025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Réserver, modifier, check-in, ajouter une chambre ou un supplément. Le terrain doit aller vite, sans écrire de code contourné.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4AB47A3-E7A7-4FCB-B48A-4320361F2C06}"/>
              </a:ext>
            </a:extLst>
          </p:cNvPr>
          <p:cNvSpPr>
            <a:spLocks noGrp="1"/>
          </p:cNvSpPr>
          <p:nvPr/>
        </p:nvSpPr>
        <p:spPr>
          <a:xfrm>
            <a:off x="800100" y="3552825"/>
            <a:ext cx="2819400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76000"/>
            </a:srgbClr>
          </a:solidFill>
          <a:ln w="9525">
            <a:solidFill>
              <a:srgbClr val="1F7665">
                <a:alpha val="1600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04A1CA-5CC9-4AF1-A8BF-51E3F3E25450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que le mobile manipule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798DDA-478F-4280-9676-D71E47B11727}"/>
              </a:ext>
            </a:extLst>
          </p:cNvPr>
          <p:cNvSpPr>
            <a:spLocks noGrp="1"/>
          </p:cNvSpPr>
          <p:nvPr/>
        </p:nvSpPr>
        <p:spPr>
          <a:xfrm>
            <a:off x="933450" y="3895725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Client, chambres, dates, suppléments, paiement simple.</a:t>
            </a:r>
          </a:p>
        </p:txBody>
      </p:sp>
      <p:pic>
        <p:nvPicPr>
          <p:cNvPr id="18" name="Graphique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67200" y="2505075"/>
            <a:ext cx="266700" cy="266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1BCDF7C-8C88-4DE9-B92E-FCDB3F9F5BAC}"/>
              </a:ext>
            </a:extLst>
          </p:cNvPr>
          <p:cNvSpPr>
            <a:spLocks noGrp="1"/>
          </p:cNvSpPr>
          <p:nvPr/>
        </p:nvSpPr>
        <p:spPr>
          <a:xfrm>
            <a:off x="4629150" y="25050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Laravel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23EAD-BB57-4D38-A105-2CB2B32B883E}"/>
              </a:ext>
            </a:extLst>
          </p:cNvPr>
          <p:cNvSpPr>
            <a:spLocks noGrp="1"/>
          </p:cNvSpPr>
          <p:nvPr/>
        </p:nvSpPr>
        <p:spPr>
          <a:xfrm>
            <a:off x="4267200" y="2867025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C’est là que la vérité métier vit: audits, règles d’édition, états de réservation, historiques clients et facturation.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4A951D8-97B5-4ED3-A54A-478E6687EB50}"/>
              </a:ext>
            </a:extLst>
          </p:cNvPr>
          <p:cNvSpPr>
            <a:spLocks noGrp="1"/>
          </p:cNvSpPr>
          <p:nvPr/>
        </p:nvSpPr>
        <p:spPr>
          <a:xfrm>
            <a:off x="4267200" y="3552825"/>
            <a:ext cx="2819400" cy="819150"/>
          </a:xfrm>
          <a:prstGeom prst="roundRect">
            <a:avLst>
              <a:gd name="adj" fmla="val 9302"/>
            </a:avLst>
          </a:prstGeom>
          <a:solidFill>
            <a:srgbClr val="FBF4EA">
              <a:alpha val="96000"/>
            </a:srgbClr>
          </a:solidFill>
          <a:ln w="9525">
            <a:solidFill>
              <a:srgbClr val="443427">
                <a:alpha val="1200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2BDE30-1B92-4D1E-ACF0-F2335ABA3E4E}"/>
              </a:ext>
            </a:extLst>
          </p:cNvPr>
          <p:cNvSpPr>
            <a:spLocks noGrp="1"/>
          </p:cNvSpPr>
          <p:nvPr/>
        </p:nvSpPr>
        <p:spPr>
          <a:xfrm>
            <a:off x="4400550" y="3686175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Services principaux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D4ABC1-7AFB-4709-9B0F-5C0834D4A2A3}"/>
              </a:ext>
            </a:extLst>
          </p:cNvPr>
          <p:cNvSpPr>
            <a:spLocks noGrp="1"/>
          </p:cNvSpPr>
          <p:nvPr/>
        </p:nvSpPr>
        <p:spPr>
          <a:xfrm>
            <a:off x="4400550" y="3895725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BookingService, PMSController, audit des actions.</a:t>
            </a:r>
          </a:p>
        </p:txBody>
      </p:sp>
      <p:pic>
        <p:nvPicPr>
          <p:cNvPr id="24" name="Graphique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734300" y="2505075"/>
            <a:ext cx="266700" cy="2667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CCF6DA1-EE2A-46C8-B96B-C40DA1C5DEF7}"/>
              </a:ext>
            </a:extLst>
          </p:cNvPr>
          <p:cNvSpPr>
            <a:spLocks noGrp="1"/>
          </p:cNvSpPr>
          <p:nvPr/>
        </p:nvSpPr>
        <p:spPr>
          <a:xfrm>
            <a:off x="8096250" y="25050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0DC6E6-61DF-4005-B675-CFC5040634AA}"/>
              </a:ext>
            </a:extLst>
          </p:cNvPr>
          <p:cNvSpPr>
            <a:spLocks noGrp="1"/>
          </p:cNvSpPr>
          <p:nvPr/>
        </p:nvSpPr>
        <p:spPr>
          <a:xfrm>
            <a:off x="7734300" y="2867025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tableau de bord découpe le salon d’arrivée pour qu’on voie immédiatement l’état de chaque étape sans fouiller les réservations.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6E38455-EA58-4DE5-90D1-0486BC035ED6}"/>
              </a:ext>
            </a:extLst>
          </p:cNvPr>
          <p:cNvSpPr>
            <a:spLocks noGrp="1"/>
          </p:cNvSpPr>
          <p:nvPr/>
        </p:nvSpPr>
        <p:spPr>
          <a:xfrm>
            <a:off x="7734300" y="3552825"/>
            <a:ext cx="2819400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443427">
                <a:alpha val="1200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A7063D-C49B-480A-AD58-6F0967C3895D}"/>
              </a:ext>
            </a:extLst>
          </p:cNvPr>
          <p:cNvSpPr>
            <a:spLocks noGrp="1"/>
          </p:cNvSpPr>
          <p:nvPr/>
        </p:nvSpPr>
        <p:spPr>
          <a:xfrm>
            <a:off x="7867650" y="3686175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Lecture métier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3B3D11-DCAB-4E19-9E87-66B69891650F}"/>
              </a:ext>
            </a:extLst>
          </p:cNvPr>
          <p:cNvSpPr>
            <a:spLocks noGrp="1"/>
          </p:cNvSpPr>
          <p:nvPr/>
        </p:nvSpPr>
        <p:spPr>
          <a:xfrm>
            <a:off x="7867650" y="3895725"/>
            <a:ext cx="2514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Pris par, check-in, paiement, acompte, reste à payer.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A16A342-079C-427E-B08B-23A2ED2FBB3C}"/>
              </a:ext>
            </a:extLst>
          </p:cNvPr>
          <p:cNvSpPr>
            <a:spLocks noGrp="1"/>
          </p:cNvSpPr>
          <p:nvPr/>
        </p:nvSpPr>
        <p:spPr>
          <a:xfrm>
            <a:off x="3924300" y="3352800"/>
            <a:ext cx="723900" cy="323850"/>
          </a:xfrm>
          <a:prstGeom prst="roundRect">
            <a:avLst>
              <a:gd name="adj" fmla="val 23529"/>
            </a:avLst>
          </a:prstGeom>
          <a:solidFill>
            <a:srgbClr val="1F7665">
              <a:alpha val="12000"/>
            </a:srgbClr>
          </a:solidFill>
          <a:ln w="9525">
            <a:solidFill>
              <a:srgbClr val="1F7665">
                <a:alpha val="15000"/>
              </a:srgbClr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507315-844D-4A0E-AC06-542678FC5362}"/>
              </a:ext>
            </a:extLst>
          </p:cNvPr>
          <p:cNvSpPr>
            <a:spLocks noGrp="1"/>
          </p:cNvSpPr>
          <p:nvPr/>
        </p:nvSpPr>
        <p:spPr>
          <a:xfrm>
            <a:off x="4038600" y="3429000"/>
            <a:ext cx="495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FBFC686-36E8-4B55-8CB0-9AD53CF7EABC}"/>
              </a:ext>
            </a:extLst>
          </p:cNvPr>
          <p:cNvSpPr>
            <a:spLocks noGrp="1"/>
          </p:cNvSpPr>
          <p:nvPr/>
        </p:nvSpPr>
        <p:spPr>
          <a:xfrm>
            <a:off x="7239000" y="3352800"/>
            <a:ext cx="723900" cy="323850"/>
          </a:xfrm>
          <a:prstGeom prst="roundRect">
            <a:avLst>
              <a:gd name="adj" fmla="val 23529"/>
            </a:avLst>
          </a:prstGeom>
          <a:solidFill>
            <a:srgbClr val="231F1B">
              <a:alpha val="6000"/>
            </a:srgbClr>
          </a:solidFill>
          <a:ln w="9525">
            <a:solidFill>
              <a:srgbClr val="443427">
                <a:alpha val="1200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46205F-CEF7-4439-A752-BC80AD1E2688}"/>
              </a:ext>
            </a:extLst>
          </p:cNvPr>
          <p:cNvSpPr>
            <a:spLocks noGrp="1"/>
          </p:cNvSpPr>
          <p:nvPr/>
        </p:nvSpPr>
        <p:spPr>
          <a:xfrm>
            <a:off x="7353300" y="3429000"/>
            <a:ext cx="495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pic>
        <p:nvPicPr>
          <p:cNvPr id="34" name="Graphique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743450" y="3343275"/>
            <a:ext cx="323850" cy="323850"/>
          </a:xfrm>
          <a:prstGeom prst="rect">
            <a:avLst/>
          </a:prstGeom>
        </p:spPr>
      </p:pic>
      <p:pic>
        <p:nvPicPr>
          <p:cNvPr id="35" name="Graphique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58150" y="3343275"/>
            <a:ext cx="323850" cy="323850"/>
          </a:xfrm>
          <a:prstGeom prst="rect">
            <a:avLst/>
          </a:prstGeom>
        </p:spPr>
      </p:pic>
      <p:sp>
        <p:nvSpPr>
          <p:cNvPr id="36" name="card">
            <a:extLst>
              <a:ext uri="{FF2B5EF4-FFF2-40B4-BE49-F238E27FC236}">
                <a16:creationId xmlns:a16="http://schemas.microsoft.com/office/drawing/2014/main" id="{C162A29D-4269-4A70-AB58-7FBC4F6EEA66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F7EFE3">
              <a:alpha val="9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37" name="Ce que ça change-head">
            <a:extLst>
              <a:ext uri="{FF2B5EF4-FFF2-40B4-BE49-F238E27FC236}">
                <a16:creationId xmlns:a16="http://schemas.microsoft.com/office/drawing/2014/main" id="{25208D36-48B8-43D2-9324-22A5E68AAC22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3124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Ce que ça change</a:t>
            </a:r>
          </a:p>
        </p:txBody>
      </p:sp>
      <p:sp>
        <p:nvSpPr>
          <p:cNvPr id="38" name="Ce que ça change-body">
            <a:extLst>
              <a:ext uri="{FF2B5EF4-FFF2-40B4-BE49-F238E27FC236}">
                <a16:creationId xmlns:a16="http://schemas.microsoft.com/office/drawing/2014/main" id="{FBAC798C-D87B-4478-9A2F-093A77CDBC2A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3124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On ne duplique pas la logique dans trois endroits. Une action est créée une fois, puis elle remonte partout avec la même signification.</a:t>
            </a:r>
          </a:p>
        </p:txBody>
      </p:sp>
      <p:sp>
        <p:nvSpPr>
          <p:cNvPr id="39" name="card">
            <a:extLst>
              <a:ext uri="{FF2B5EF4-FFF2-40B4-BE49-F238E27FC236}">
                <a16:creationId xmlns:a16="http://schemas.microsoft.com/office/drawing/2014/main" id="{F3E48C45-4FCB-48F4-B654-51A610504B56}"/>
              </a:ext>
            </a:extLst>
          </p:cNvPr>
          <p:cNvSpPr>
            <a:spLocks noGrp="1"/>
          </p:cNvSpPr>
          <p:nvPr/>
        </p:nvSpPr>
        <p:spPr>
          <a:xfrm>
            <a:off x="4171950" y="4972050"/>
            <a:ext cx="3429000" cy="1028700"/>
          </a:xfrm>
          <a:prstGeom prst="roundRect">
            <a:avLst>
              <a:gd name="adj" fmla="val 7407"/>
            </a:avLst>
          </a:prstGeom>
          <a:solidFill>
            <a:srgbClr val="1F7665">
              <a:alpha val="9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0" name="Ce que ça rend possible-head">
            <a:extLst>
              <a:ext uri="{FF2B5EF4-FFF2-40B4-BE49-F238E27FC236}">
                <a16:creationId xmlns:a16="http://schemas.microsoft.com/office/drawing/2014/main" id="{8ED30BCE-B740-4A87-AEE5-36740BE285D6}"/>
              </a:ext>
            </a:extLst>
          </p:cNvPr>
          <p:cNvSpPr>
            <a:spLocks noGrp="1"/>
          </p:cNvSpPr>
          <p:nvPr/>
        </p:nvSpPr>
        <p:spPr>
          <a:xfrm>
            <a:off x="4324350" y="5105400"/>
            <a:ext cx="3124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que ça rend possible</a:t>
            </a:r>
          </a:p>
        </p:txBody>
      </p:sp>
      <p:sp>
        <p:nvSpPr>
          <p:cNvPr id="41" name="Ce que ça rend possible-body">
            <a:extLst>
              <a:ext uri="{FF2B5EF4-FFF2-40B4-BE49-F238E27FC236}">
                <a16:creationId xmlns:a16="http://schemas.microsoft.com/office/drawing/2014/main" id="{45FB1EAF-FF29-44EB-A2D2-7DA9749536DA}"/>
              </a:ext>
            </a:extLst>
          </p:cNvPr>
          <p:cNvSpPr>
            <a:spLocks noGrp="1"/>
          </p:cNvSpPr>
          <p:nvPr/>
        </p:nvSpPr>
        <p:spPr>
          <a:xfrm>
            <a:off x="4324350" y="5334000"/>
            <a:ext cx="3124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Une réservation modifiée après arrivée reste lisible, mais les champs client ne bougent plus n’importe comment.</a:t>
            </a:r>
          </a:p>
        </p:txBody>
      </p:sp>
      <p:sp>
        <p:nvSpPr>
          <p:cNvPr id="42" name="card">
            <a:extLst>
              <a:ext uri="{FF2B5EF4-FFF2-40B4-BE49-F238E27FC236}">
                <a16:creationId xmlns:a16="http://schemas.microsoft.com/office/drawing/2014/main" id="{6105C182-4052-4969-8D84-0D0B3EB5330F}"/>
              </a:ext>
            </a:extLst>
          </p:cNvPr>
          <p:cNvSpPr>
            <a:spLocks noGrp="1"/>
          </p:cNvSpPr>
          <p:nvPr/>
        </p:nvSpPr>
        <p:spPr>
          <a:xfrm>
            <a:off x="7734300" y="4972050"/>
            <a:ext cx="3848100" cy="1028700"/>
          </a:xfrm>
          <a:prstGeom prst="roundRect">
            <a:avLst>
              <a:gd name="adj" fmla="val 7407"/>
            </a:avLst>
          </a:prstGeom>
          <a:solidFill>
            <a:srgbClr val="F7EFE3">
              <a:alpha val="9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3" name="Ce que le dashboard exploite-head">
            <a:extLst>
              <a:ext uri="{FF2B5EF4-FFF2-40B4-BE49-F238E27FC236}">
                <a16:creationId xmlns:a16="http://schemas.microsoft.com/office/drawing/2014/main" id="{89188073-D16D-4DB1-B43C-86208A996136}"/>
              </a:ext>
            </a:extLst>
          </p:cNvPr>
          <p:cNvSpPr>
            <a:spLocks noGrp="1"/>
          </p:cNvSpPr>
          <p:nvPr/>
        </p:nvSpPr>
        <p:spPr>
          <a:xfrm>
            <a:off x="7886700" y="5105400"/>
            <a:ext cx="3543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Ce que le dashboard exploite</a:t>
            </a:r>
          </a:p>
        </p:txBody>
      </p:sp>
      <p:sp>
        <p:nvSpPr>
          <p:cNvPr id="44" name="Ce que le dashboard exploite-body">
            <a:extLst>
              <a:ext uri="{FF2B5EF4-FFF2-40B4-BE49-F238E27FC236}">
                <a16:creationId xmlns:a16="http://schemas.microsoft.com/office/drawing/2014/main" id="{D3662443-FBA8-4E54-9464-312FA869A3B5}"/>
              </a:ext>
            </a:extLst>
          </p:cNvPr>
          <p:cNvSpPr>
            <a:spLocks noGrp="1"/>
          </p:cNvSpPr>
          <p:nvPr/>
        </p:nvSpPr>
        <p:spPr>
          <a:xfrm>
            <a:off x="7886700" y="5334000"/>
            <a:ext cx="3543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Les mêmes données servent au salon des arrivées, à l’historique complet et au tri par séjour, solde ou montant.</a:t>
            </a:r>
          </a:p>
        </p:txBody>
      </p:sp>
      <p:sp>
        <p:nvSpPr>
          <p:cNvPr id="45" name="footer-rule">
            <a:extLst>
              <a:ext uri="{FF2B5EF4-FFF2-40B4-BE49-F238E27FC236}">
                <a16:creationId xmlns:a16="http://schemas.microsoft.com/office/drawing/2014/main" id="{18CD4BA7-4C1C-42A1-94A4-A587FAD5045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443427">
              <a:alpha val="10000"/>
            </a:srgbClr>
          </a:solidFill>
          <a:ln w="0">
            <a:solidFill>
              <a:srgbClr val="443427">
                <a:alpha val="10000"/>
              </a:srgbClr>
            </a:solidFill>
          </a:ln>
        </p:spPr>
      </p:sp>
      <p:sp>
        <p:nvSpPr>
          <p:cNvPr id="46" name="footer-label">
            <a:extLst>
              <a:ext uri="{FF2B5EF4-FFF2-40B4-BE49-F238E27FC236}">
                <a16:creationId xmlns:a16="http://schemas.microsoft.com/office/drawing/2014/main" id="{D2B2731A-24F7-4C64-8278-ECF42587AF0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228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47" name="footer-mode">
            <a:extLst>
              <a:ext uri="{FF2B5EF4-FFF2-40B4-BE49-F238E27FC236}">
                <a16:creationId xmlns:a16="http://schemas.microsoft.com/office/drawing/2014/main" id="{DC862FC3-4CFC-470F-8E60-2D8F7F014884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visuelle</a:t>
            </a:r>
          </a:p>
        </p:txBody>
      </p:sp>
    </p:spTree>
    <p:extLst>
      <p:ext uri="{BB962C8B-B14F-4D97-AF65-F5344CB8AC3E}">
        <p14:creationId xmlns:p14="http://schemas.microsoft.com/office/powerpoint/2010/main" val="122825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g">
            <a:extLst>
              <a:ext uri="{FF2B5EF4-FFF2-40B4-BE49-F238E27FC236}">
                <a16:creationId xmlns:a16="http://schemas.microsoft.com/office/drawing/2014/main" id="{687BAC3E-FB51-4116-8593-D3B410AB82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EA"/>
          </a:solidFill>
          <a:ln w="0">
            <a:solidFill>
              <a:srgbClr val="FBF4EA"/>
            </a:solidFill>
          </a:ln>
        </p:spPr>
      </p:sp>
      <p:sp>
        <p:nvSpPr>
          <p:cNvPr id="2" name="orb-a">
            <a:extLst>
              <a:ext uri="{FF2B5EF4-FFF2-40B4-BE49-F238E27FC236}">
                <a16:creationId xmlns:a16="http://schemas.microsoft.com/office/drawing/2014/main" id="{B997A23E-E12F-4BAF-B360-016A71D0186B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953000" cy="3048000"/>
          </a:xfrm>
          <a:prstGeom prst="ellipse">
            <a:avLst/>
          </a:prstGeom>
          <a:solidFill>
            <a:srgbClr val="1F7665">
              <a:alpha val="7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>
              <a:ext uri="{FF2B5EF4-FFF2-40B4-BE49-F238E27FC236}">
                <a16:creationId xmlns:a16="http://schemas.microsoft.com/office/drawing/2014/main" id="{0EE37AC3-0F2A-4DF8-BBB6-82EBCB41708D}"/>
              </a:ext>
            </a:extLst>
          </p:cNvPr>
          <p:cNvSpPr>
            <a:spLocks noGrp="1"/>
          </p:cNvSpPr>
          <p:nvPr/>
        </p:nvSpPr>
        <p:spPr>
          <a:xfrm>
            <a:off x="7810500" y="-952500"/>
            <a:ext cx="4953000" cy="3048000"/>
          </a:xfrm>
          <a:prstGeom prst="ellipse">
            <a:avLst/>
          </a:prstGeom>
          <a:solidFill>
            <a:srgbClr val="443427">
              <a:alpha val="6000"/>
            </a:srgbClr>
          </a:solidFill>
          <a:ln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>
              <a:ext uri="{FF2B5EF4-FFF2-40B4-BE49-F238E27FC236}">
                <a16:creationId xmlns:a16="http://schemas.microsoft.com/office/drawing/2014/main" id="{49E85E2F-E54F-4821-9A0C-5B80E771F26E}"/>
              </a:ext>
            </a:extLst>
          </p:cNvPr>
          <p:cNvSpPr>
            <a:spLocks noGrp="1"/>
          </p:cNvSpPr>
          <p:nvPr/>
        </p:nvSpPr>
        <p:spPr>
          <a:xfrm>
            <a:off x="8763000" y="4476750"/>
            <a:ext cx="4000500" cy="2476500"/>
          </a:xfrm>
          <a:prstGeom prst="ellipse">
            <a:avLst/>
          </a:prstGeom>
          <a:solidFill>
            <a:srgbClr val="1F7665">
              <a:alpha val="5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>
              <a:ext uri="{FF2B5EF4-FFF2-40B4-BE49-F238E27FC236}">
                <a16:creationId xmlns:a16="http://schemas.microsoft.com/office/drawing/2014/main" id="{AE7C8001-9560-4AB1-909E-2A3D14D1E17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66675" cy="66675"/>
          </a:xfrm>
          <a:prstGeom prst="ellipse">
            <a:avLst/>
          </a:prstGeom>
          <a:solidFill>
            <a:srgbClr val="1F7665"/>
          </a:solidFill>
          <a:ln w="0">
            <a:solidFill>
              <a:srgbClr val="1F7665"/>
            </a:solidFill>
          </a:ln>
        </p:spPr>
      </p:sp>
      <p:sp>
        <p:nvSpPr>
          <p:cNvPr id="6" name="kicker-text">
            <a:extLst>
              <a:ext uri="{FF2B5EF4-FFF2-40B4-BE49-F238E27FC236}">
                <a16:creationId xmlns:a16="http://schemas.microsoft.com/office/drawing/2014/main" id="{BBBBD413-0E5C-4EE3-B574-7540D1C08BC5}"/>
              </a:ext>
            </a:extLst>
          </p:cNvPr>
          <p:cNvSpPr>
            <a:spLocks noGrp="1"/>
          </p:cNvSpPr>
          <p:nvPr/>
        </p:nvSpPr>
        <p:spPr>
          <a:xfrm>
            <a:off x="762000" y="438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FLUX MÉTIER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C6334C6-DFCF-41D6-A49D-AE401D37E08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Le point dur, c’est l’après check-in: encore bouger, sans casser le dossier client.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FC49343-8FE6-469F-AF58-399E8E2EB80B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J’ai séparé ce qui doit rester figé de ce qui peut encore évoluer. C’est là que le projet devient vraiment hôtelier, pas juste “réservation + formulaire”.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33468AF7-2843-4840-9F66-F7B08ACA2ACE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247900" cy="1581150"/>
          </a:xfrm>
          <a:prstGeom prst="roundRect">
            <a:avLst>
              <a:gd name="adj" fmla="val 4819"/>
            </a:avLst>
          </a:prstGeom>
          <a:solidFill>
            <a:srgbClr val="1F7665">
              <a:alpha val="1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B13FD49-69E9-4869-93A5-3391DFF9FD11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F7665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FFDBEF-A3BB-4DBE-BBA6-4AEBCB626912}"/>
              </a:ext>
            </a:extLst>
          </p:cNvPr>
          <p:cNvSpPr>
            <a:spLocks noGrp="1"/>
          </p:cNvSpPr>
          <p:nvPr/>
        </p:nvSpPr>
        <p:spPr>
          <a:xfrm>
            <a:off x="1200150" y="2495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Réservation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00E693-D2AC-4F9F-A581-C792DA1D7E25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190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Dossier complet, client modifiable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6EBF025-AA01-4D6B-A40A-BFE7367EB782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943100" cy="171450"/>
          </a:xfrm>
          <a:prstGeom prst="roundRect">
            <a:avLst>
              <a:gd name="adj" fmla="val 44444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443427">
                <a:alpha val="800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00B0E-C5C7-4CB3-9367-BED11EC9C2AB}"/>
              </a:ext>
            </a:extLst>
          </p:cNvPr>
          <p:cNvSpPr>
            <a:spLocks noGrp="1"/>
          </p:cNvSpPr>
          <p:nvPr/>
        </p:nvSpPr>
        <p:spPr>
          <a:xfrm>
            <a:off x="876300" y="3648075"/>
            <a:ext cx="1714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5" name="card">
            <a:extLst>
              <a:ext uri="{FF2B5EF4-FFF2-40B4-BE49-F238E27FC236}">
                <a16:creationId xmlns:a16="http://schemas.microsoft.com/office/drawing/2014/main" id="{580C5E94-9602-4082-9E63-3109CD346AF9}"/>
              </a:ext>
            </a:extLst>
          </p:cNvPr>
          <p:cNvSpPr>
            <a:spLocks noGrp="1"/>
          </p:cNvSpPr>
          <p:nvPr/>
        </p:nvSpPr>
        <p:spPr>
          <a:xfrm>
            <a:off x="3276600" y="2362200"/>
            <a:ext cx="2247900" cy="1581150"/>
          </a:xfrm>
          <a:prstGeom prst="roundRect">
            <a:avLst>
              <a:gd name="adj" fmla="val 4819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0857CAC-9D5E-4AAA-94F1-8D50DA493E1C}"/>
              </a:ext>
            </a:extLst>
          </p:cNvPr>
          <p:cNvSpPr>
            <a:spLocks noGrp="1"/>
          </p:cNvSpPr>
          <p:nvPr/>
        </p:nvSpPr>
        <p:spPr>
          <a:xfrm>
            <a:off x="3429000" y="24955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F7665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1896F1-5390-44DB-93A3-04D70B249B72}"/>
              </a:ext>
            </a:extLst>
          </p:cNvPr>
          <p:cNvSpPr>
            <a:spLocks noGrp="1"/>
          </p:cNvSpPr>
          <p:nvPr/>
        </p:nvSpPr>
        <p:spPr>
          <a:xfrm>
            <a:off x="3867150" y="2495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Check-in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F64A8D-FCBE-42D3-9890-642CA7394170}"/>
              </a:ext>
            </a:extLst>
          </p:cNvPr>
          <p:cNvSpPr>
            <a:spLocks noGrp="1"/>
          </p:cNvSpPr>
          <p:nvPr/>
        </p:nvSpPr>
        <p:spPr>
          <a:xfrm>
            <a:off x="3448050" y="2990850"/>
            <a:ext cx="190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Qui a fait quoi est enregistré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F9152E9-8894-4B6A-A737-086C5050E77B}"/>
              </a:ext>
            </a:extLst>
          </p:cNvPr>
          <p:cNvSpPr>
            <a:spLocks noGrp="1"/>
          </p:cNvSpPr>
          <p:nvPr/>
        </p:nvSpPr>
        <p:spPr>
          <a:xfrm>
            <a:off x="3429000" y="3619500"/>
            <a:ext cx="1943100" cy="171450"/>
          </a:xfrm>
          <a:prstGeom prst="roundRect">
            <a:avLst>
              <a:gd name="adj" fmla="val 44444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443427">
                <a:alpha val="800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CA2096-A94F-480A-91AB-E85A2614A91A}"/>
              </a:ext>
            </a:extLst>
          </p:cNvPr>
          <p:cNvSpPr>
            <a:spLocks noGrp="1"/>
          </p:cNvSpPr>
          <p:nvPr/>
        </p:nvSpPr>
        <p:spPr>
          <a:xfrm>
            <a:off x="3543300" y="3648075"/>
            <a:ext cx="1714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acte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6CC7DB62-38E9-4656-9F98-46DB9CE0AE94}"/>
              </a:ext>
            </a:extLst>
          </p:cNvPr>
          <p:cNvSpPr>
            <a:spLocks noGrp="1"/>
          </p:cNvSpPr>
          <p:nvPr/>
        </p:nvSpPr>
        <p:spPr>
          <a:xfrm>
            <a:off x="5943600" y="2362200"/>
            <a:ext cx="2247900" cy="1581150"/>
          </a:xfrm>
          <a:prstGeom prst="roundRect">
            <a:avLst>
              <a:gd name="adj" fmla="val 4819"/>
            </a:avLst>
          </a:prstGeom>
          <a:solidFill>
            <a:srgbClr val="231F1B">
              <a:alpha val="5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746DD8B-D344-4BF1-BD7C-DAE849C4450D}"/>
              </a:ext>
            </a:extLst>
          </p:cNvPr>
          <p:cNvSpPr>
            <a:spLocks noGrp="1"/>
          </p:cNvSpPr>
          <p:nvPr/>
        </p:nvSpPr>
        <p:spPr>
          <a:xfrm>
            <a:off x="6096000" y="24955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F7665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9BDD3C-8CF8-472B-A72D-B06A44F653CB}"/>
              </a:ext>
            </a:extLst>
          </p:cNvPr>
          <p:cNvSpPr>
            <a:spLocks noGrp="1"/>
          </p:cNvSpPr>
          <p:nvPr/>
        </p:nvSpPr>
        <p:spPr>
          <a:xfrm>
            <a:off x="6534150" y="2495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Séjour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1CD156-50BC-4505-913F-86B214CBC490}"/>
              </a:ext>
            </a:extLst>
          </p:cNvPr>
          <p:cNvSpPr>
            <a:spLocks noGrp="1"/>
          </p:cNvSpPr>
          <p:nvPr/>
        </p:nvSpPr>
        <p:spPr>
          <a:xfrm>
            <a:off x="6115050" y="2990850"/>
            <a:ext cx="190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Changement de chambre, lits, matelas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93A53DC-DE99-476E-8EB2-16950872B272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1943100" cy="171450"/>
          </a:xfrm>
          <a:prstGeom prst="roundRect">
            <a:avLst>
              <a:gd name="adj" fmla="val 44444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443427">
                <a:alpha val="800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94CA2A-B984-472C-B046-7ABE590F5558}"/>
              </a:ext>
            </a:extLst>
          </p:cNvPr>
          <p:cNvSpPr>
            <a:spLocks noGrp="1"/>
          </p:cNvSpPr>
          <p:nvPr/>
        </p:nvSpPr>
        <p:spPr>
          <a:xfrm>
            <a:off x="6210300" y="3648075"/>
            <a:ext cx="1714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ajustement</a:t>
            </a:r>
          </a:p>
        </p:txBody>
      </p:sp>
      <p:sp>
        <p:nvSpPr>
          <p:cNvPr id="27" name="card">
            <a:extLst>
              <a:ext uri="{FF2B5EF4-FFF2-40B4-BE49-F238E27FC236}">
                <a16:creationId xmlns:a16="http://schemas.microsoft.com/office/drawing/2014/main" id="{B8CB1481-54A6-4498-B19B-499C20F09E6D}"/>
              </a:ext>
            </a:extLst>
          </p:cNvPr>
          <p:cNvSpPr>
            <a:spLocks noGrp="1"/>
          </p:cNvSpPr>
          <p:nvPr/>
        </p:nvSpPr>
        <p:spPr>
          <a:xfrm>
            <a:off x="8610600" y="2362200"/>
            <a:ext cx="2247900" cy="1581150"/>
          </a:xfrm>
          <a:prstGeom prst="roundRect">
            <a:avLst>
              <a:gd name="adj" fmla="val 4819"/>
            </a:avLst>
          </a:prstGeom>
          <a:solidFill>
            <a:srgbClr val="BE123C">
              <a:alpha val="8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C4704E0-AEB8-405B-AF72-BEFEE08B5FA0}"/>
              </a:ext>
            </a:extLst>
          </p:cNvPr>
          <p:cNvSpPr>
            <a:spLocks noGrp="1"/>
          </p:cNvSpPr>
          <p:nvPr/>
        </p:nvSpPr>
        <p:spPr>
          <a:xfrm>
            <a:off x="8763000" y="24955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BE123C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AC81B6-53F3-4FD8-BEB1-C23EEAF34C5D}"/>
              </a:ext>
            </a:extLst>
          </p:cNvPr>
          <p:cNvSpPr>
            <a:spLocks noGrp="1"/>
          </p:cNvSpPr>
          <p:nvPr/>
        </p:nvSpPr>
        <p:spPr>
          <a:xfrm>
            <a:off x="9201150" y="2495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Paiement / Audit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E74E3E-FF30-4AA9-B5FF-7BE80B5645F2}"/>
              </a:ext>
            </a:extLst>
          </p:cNvPr>
          <p:cNvSpPr>
            <a:spLocks noGrp="1"/>
          </p:cNvSpPr>
          <p:nvPr/>
        </p:nvSpPr>
        <p:spPr>
          <a:xfrm>
            <a:off x="8782050" y="2990850"/>
            <a:ext cx="190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Acompte, paiement, modification, annulation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E12237D-CE16-4BDB-9DAD-596AB0409C1D}"/>
              </a:ext>
            </a:extLst>
          </p:cNvPr>
          <p:cNvSpPr>
            <a:spLocks noGrp="1"/>
          </p:cNvSpPr>
          <p:nvPr/>
        </p:nvSpPr>
        <p:spPr>
          <a:xfrm>
            <a:off x="8763000" y="3619500"/>
            <a:ext cx="1943100" cy="171450"/>
          </a:xfrm>
          <a:prstGeom prst="roundRect">
            <a:avLst>
              <a:gd name="adj" fmla="val 44444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443427">
                <a:alpha val="800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5C372A-CD60-4D5E-A571-4212D839EC14}"/>
              </a:ext>
            </a:extLst>
          </p:cNvPr>
          <p:cNvSpPr>
            <a:spLocks noGrp="1"/>
          </p:cNvSpPr>
          <p:nvPr/>
        </p:nvSpPr>
        <p:spPr>
          <a:xfrm>
            <a:off x="8877300" y="3648075"/>
            <a:ext cx="1714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pic>
        <p:nvPicPr>
          <p:cNvPr id="33" name="Graphique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971800" y="2933700"/>
            <a:ext cx="266700" cy="266700"/>
          </a:xfrm>
          <a:prstGeom prst="rect">
            <a:avLst/>
          </a:prstGeom>
        </p:spPr>
      </p:pic>
      <p:pic>
        <p:nvPicPr>
          <p:cNvPr id="34" name="Graphique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638800" y="2933700"/>
            <a:ext cx="266700" cy="266700"/>
          </a:xfrm>
          <a:prstGeom prst="rect">
            <a:avLst/>
          </a:prstGeom>
        </p:spPr>
      </p:pic>
      <p:pic>
        <p:nvPicPr>
          <p:cNvPr id="35" name="Graphique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05800" y="2933700"/>
            <a:ext cx="266700" cy="266700"/>
          </a:xfrm>
          <a:prstGeom prst="rect">
            <a:avLst/>
          </a:prstGeom>
        </p:spPr>
      </p:pic>
      <p:sp>
        <p:nvSpPr>
          <p:cNvPr id="36" name="card">
            <a:extLst>
              <a:ext uri="{FF2B5EF4-FFF2-40B4-BE49-F238E27FC236}">
                <a16:creationId xmlns:a16="http://schemas.microsoft.com/office/drawing/2014/main" id="{3FDF552D-7341-433E-9EA7-40B528472F3B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3295650" cy="1390650"/>
          </a:xfrm>
          <a:prstGeom prst="roundRect">
            <a:avLst>
              <a:gd name="adj" fmla="val 5479"/>
            </a:avLst>
          </a:prstGeom>
          <a:solidFill>
            <a:srgbClr val="F7EFE3">
              <a:alpha val="9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37" name="Avant-head">
            <a:extLst>
              <a:ext uri="{FF2B5EF4-FFF2-40B4-BE49-F238E27FC236}">
                <a16:creationId xmlns:a16="http://schemas.microsoft.com/office/drawing/2014/main" id="{0DD29EE1-F5F7-44C7-8F0B-A428ABD9F406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8" name="Avant-body">
            <a:extLst>
              <a:ext uri="{FF2B5EF4-FFF2-40B4-BE49-F238E27FC236}">
                <a16:creationId xmlns:a16="http://schemas.microsoft.com/office/drawing/2014/main" id="{02FEB94B-CF4E-4AD2-8838-97BEF5B605C2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29908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Toutes les informations restent modifiables. On peut corriger une chambre, des dates, des suppléments, sans bloquer inutilement.</a:t>
            </a:r>
          </a:p>
        </p:txBody>
      </p:sp>
      <p:sp>
        <p:nvSpPr>
          <p:cNvPr id="39" name="card">
            <a:extLst>
              <a:ext uri="{FF2B5EF4-FFF2-40B4-BE49-F238E27FC236}">
                <a16:creationId xmlns:a16="http://schemas.microsoft.com/office/drawing/2014/main" id="{610C16B5-F211-43E0-A512-0EBB0AC6B99E}"/>
              </a:ext>
            </a:extLst>
          </p:cNvPr>
          <p:cNvSpPr>
            <a:spLocks noGrp="1"/>
          </p:cNvSpPr>
          <p:nvPr/>
        </p:nvSpPr>
        <p:spPr>
          <a:xfrm>
            <a:off x="4362450" y="4343400"/>
            <a:ext cx="3295650" cy="1390650"/>
          </a:xfrm>
          <a:prstGeom prst="roundRect">
            <a:avLst>
              <a:gd name="adj" fmla="val 5479"/>
            </a:avLst>
          </a:prstGeom>
          <a:solidFill>
            <a:srgbClr val="F7EFE3">
              <a:alpha val="9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0" name="Après check-in-head">
            <a:extLst>
              <a:ext uri="{FF2B5EF4-FFF2-40B4-BE49-F238E27FC236}">
                <a16:creationId xmlns:a16="http://schemas.microsoft.com/office/drawing/2014/main" id="{4DA787F4-1BFD-441D-9710-7EED3B1A72BD}"/>
              </a:ext>
            </a:extLst>
          </p:cNvPr>
          <p:cNvSpPr>
            <a:spLocks noGrp="1"/>
          </p:cNvSpPr>
          <p:nvPr/>
        </p:nvSpPr>
        <p:spPr>
          <a:xfrm>
            <a:off x="4514850" y="4476750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Après check-in</a:t>
            </a:r>
          </a:p>
        </p:txBody>
      </p:sp>
      <p:sp>
        <p:nvSpPr>
          <p:cNvPr id="41" name="Après check-in-body">
            <a:extLst>
              <a:ext uri="{FF2B5EF4-FFF2-40B4-BE49-F238E27FC236}">
                <a16:creationId xmlns:a16="http://schemas.microsoft.com/office/drawing/2014/main" id="{F23C2EDB-9437-4B22-88C6-4AA82049684C}"/>
              </a:ext>
            </a:extLst>
          </p:cNvPr>
          <p:cNvSpPr>
            <a:spLocks noGrp="1"/>
          </p:cNvSpPr>
          <p:nvPr/>
        </p:nvSpPr>
        <p:spPr>
          <a:xfrm>
            <a:off x="4514850" y="4705350"/>
            <a:ext cx="29908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client ne doit plus être édité. On garde les options opérationnelles, pas l’identité du dossier.</a:t>
            </a:r>
          </a:p>
        </p:txBody>
      </p:sp>
      <p:sp>
        <p:nvSpPr>
          <p:cNvPr id="42" name="card">
            <a:extLst>
              <a:ext uri="{FF2B5EF4-FFF2-40B4-BE49-F238E27FC236}">
                <a16:creationId xmlns:a16="http://schemas.microsoft.com/office/drawing/2014/main" id="{48AF5562-8B29-4683-978A-DA802BEC88F8}"/>
              </a:ext>
            </a:extLst>
          </p:cNvPr>
          <p:cNvSpPr>
            <a:spLocks noGrp="1"/>
          </p:cNvSpPr>
          <p:nvPr/>
        </p:nvSpPr>
        <p:spPr>
          <a:xfrm>
            <a:off x="8115300" y="4343400"/>
            <a:ext cx="3467100" cy="1390650"/>
          </a:xfrm>
          <a:prstGeom prst="roundRect">
            <a:avLst>
              <a:gd name="adj" fmla="val 5479"/>
            </a:avLst>
          </a:prstGeom>
          <a:solidFill>
            <a:srgbClr val="1F7665">
              <a:alpha val="9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3" name="Ce qui est tracé-head">
            <a:extLst>
              <a:ext uri="{FF2B5EF4-FFF2-40B4-BE49-F238E27FC236}">
                <a16:creationId xmlns:a16="http://schemas.microsoft.com/office/drawing/2014/main" id="{EBDECEDE-8D32-426E-8EF4-7FE6AFA4A04E}"/>
              </a:ext>
            </a:extLst>
          </p:cNvPr>
          <p:cNvSpPr>
            <a:spLocks noGrp="1"/>
          </p:cNvSpPr>
          <p:nvPr/>
        </p:nvSpPr>
        <p:spPr>
          <a:xfrm>
            <a:off x="8267700" y="4476750"/>
            <a:ext cx="3162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qui est tracé</a:t>
            </a:r>
          </a:p>
        </p:txBody>
      </p:sp>
      <p:sp>
        <p:nvSpPr>
          <p:cNvPr id="44" name="Ce qui est tracé-body">
            <a:extLst>
              <a:ext uri="{FF2B5EF4-FFF2-40B4-BE49-F238E27FC236}">
                <a16:creationId xmlns:a16="http://schemas.microsoft.com/office/drawing/2014/main" id="{033DE756-3E82-4E27-9B92-5CBF482A80F1}"/>
              </a:ext>
            </a:extLst>
          </p:cNvPr>
          <p:cNvSpPr>
            <a:spLocks noGrp="1"/>
          </p:cNvSpPr>
          <p:nvPr/>
        </p:nvSpPr>
        <p:spPr>
          <a:xfrm>
            <a:off x="8267700" y="4705350"/>
            <a:ext cx="31623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Check-in, paiement, acompte, modification et annulation. Chaque action prend un auteur et un contexte.</a:t>
            </a:r>
          </a:p>
        </p:txBody>
      </p:sp>
      <p:sp>
        <p:nvSpPr>
          <p:cNvPr id="45" name="footer-rule">
            <a:extLst>
              <a:ext uri="{FF2B5EF4-FFF2-40B4-BE49-F238E27FC236}">
                <a16:creationId xmlns:a16="http://schemas.microsoft.com/office/drawing/2014/main" id="{1BC97B07-65D9-47AF-AFA8-1A99C229361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443427">
              <a:alpha val="10000"/>
            </a:srgbClr>
          </a:solidFill>
          <a:ln w="0">
            <a:solidFill>
              <a:srgbClr val="443427">
                <a:alpha val="10000"/>
              </a:srgbClr>
            </a:solidFill>
          </a:ln>
        </p:spPr>
      </p:sp>
      <p:sp>
        <p:nvSpPr>
          <p:cNvPr id="46" name="footer-label">
            <a:extLst>
              <a:ext uri="{FF2B5EF4-FFF2-40B4-BE49-F238E27FC236}">
                <a16:creationId xmlns:a16="http://schemas.microsoft.com/office/drawing/2014/main" id="{47131B30-CA71-4F67-A29B-0114D75401F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228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47" name="footer-mode">
            <a:extLst>
              <a:ext uri="{FF2B5EF4-FFF2-40B4-BE49-F238E27FC236}">
                <a16:creationId xmlns:a16="http://schemas.microsoft.com/office/drawing/2014/main" id="{801ABC3B-E263-4811-808E-04405C76892A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visuelle</a:t>
            </a:r>
          </a:p>
        </p:txBody>
      </p:sp>
    </p:spTree>
    <p:extLst>
      <p:ext uri="{BB962C8B-B14F-4D97-AF65-F5344CB8AC3E}">
        <p14:creationId xmlns:p14="http://schemas.microsoft.com/office/powerpoint/2010/main" val="119688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bg">
            <a:extLst>
              <a:ext uri="{FF2B5EF4-FFF2-40B4-BE49-F238E27FC236}">
                <a16:creationId xmlns:a16="http://schemas.microsoft.com/office/drawing/2014/main" id="{69724050-E6C9-494B-A1C9-EF98D0EEF4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EA"/>
          </a:solidFill>
          <a:ln w="0">
            <a:solidFill>
              <a:srgbClr val="FBF4EA"/>
            </a:solidFill>
          </a:ln>
        </p:spPr>
      </p:sp>
      <p:sp>
        <p:nvSpPr>
          <p:cNvPr id="2" name="orb-a">
            <a:extLst>
              <a:ext uri="{FF2B5EF4-FFF2-40B4-BE49-F238E27FC236}">
                <a16:creationId xmlns:a16="http://schemas.microsoft.com/office/drawing/2014/main" id="{7285DE2E-FF88-428C-B1A6-FC8536DDB6F0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953000" cy="3048000"/>
          </a:xfrm>
          <a:prstGeom prst="ellipse">
            <a:avLst/>
          </a:prstGeom>
          <a:solidFill>
            <a:srgbClr val="1F7665">
              <a:alpha val="7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>
              <a:ext uri="{FF2B5EF4-FFF2-40B4-BE49-F238E27FC236}">
                <a16:creationId xmlns:a16="http://schemas.microsoft.com/office/drawing/2014/main" id="{74CCF8B9-A9F3-4C6B-85CA-FBD2A4375889}"/>
              </a:ext>
            </a:extLst>
          </p:cNvPr>
          <p:cNvSpPr>
            <a:spLocks noGrp="1"/>
          </p:cNvSpPr>
          <p:nvPr/>
        </p:nvSpPr>
        <p:spPr>
          <a:xfrm>
            <a:off x="7810500" y="-952500"/>
            <a:ext cx="4953000" cy="3048000"/>
          </a:xfrm>
          <a:prstGeom prst="ellipse">
            <a:avLst/>
          </a:prstGeom>
          <a:solidFill>
            <a:srgbClr val="443427">
              <a:alpha val="6000"/>
            </a:srgbClr>
          </a:solidFill>
          <a:ln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>
              <a:ext uri="{FF2B5EF4-FFF2-40B4-BE49-F238E27FC236}">
                <a16:creationId xmlns:a16="http://schemas.microsoft.com/office/drawing/2014/main" id="{B8FEFA7D-2E1B-4769-AE33-41E018754DE1}"/>
              </a:ext>
            </a:extLst>
          </p:cNvPr>
          <p:cNvSpPr>
            <a:spLocks noGrp="1"/>
          </p:cNvSpPr>
          <p:nvPr/>
        </p:nvSpPr>
        <p:spPr>
          <a:xfrm>
            <a:off x="8763000" y="4476750"/>
            <a:ext cx="4000500" cy="2476500"/>
          </a:xfrm>
          <a:prstGeom prst="ellipse">
            <a:avLst/>
          </a:prstGeom>
          <a:solidFill>
            <a:srgbClr val="1F7665">
              <a:alpha val="5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>
              <a:ext uri="{FF2B5EF4-FFF2-40B4-BE49-F238E27FC236}">
                <a16:creationId xmlns:a16="http://schemas.microsoft.com/office/drawing/2014/main" id="{D94A9EEC-1EB1-46F2-9B05-1105FA3AE29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66675" cy="66675"/>
          </a:xfrm>
          <a:prstGeom prst="ellipse">
            <a:avLst/>
          </a:prstGeom>
          <a:solidFill>
            <a:srgbClr val="1F7665"/>
          </a:solidFill>
          <a:ln w="0">
            <a:solidFill>
              <a:srgbClr val="1F7665"/>
            </a:solidFill>
          </a:ln>
        </p:spPr>
      </p:sp>
      <p:sp>
        <p:nvSpPr>
          <p:cNvPr id="6" name="kicker-text">
            <a:extLst>
              <a:ext uri="{FF2B5EF4-FFF2-40B4-BE49-F238E27FC236}">
                <a16:creationId xmlns:a16="http://schemas.microsoft.com/office/drawing/2014/main" id="{0D724061-4B37-4096-BD2D-5BEFCA410830}"/>
              </a:ext>
            </a:extLst>
          </p:cNvPr>
          <p:cNvSpPr>
            <a:spLocks noGrp="1"/>
          </p:cNvSpPr>
          <p:nvPr/>
        </p:nvSpPr>
        <p:spPr>
          <a:xfrm>
            <a:off x="762000" y="438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TROIS BLOCAGES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D66553DF-8763-45FA-AB5B-02DE15A2C00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Trois vrais problèmes de code ont forcé des corrections nettes.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E8D0702D-7709-408E-8766-C14CE789A10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723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Pas des “petits bugs”. Des endroits où la logique métier, l’historique ou la lisibilité pouvaient partir de travers.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CBB5B571-4665-46C1-A40C-902F2618EFC5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314700" cy="3181350"/>
          </a:xfrm>
          <a:prstGeom prst="roundRect">
            <a:avLst>
              <a:gd name="adj" fmla="val 2395"/>
            </a:avLst>
          </a:prstGeom>
          <a:solidFill>
            <a:srgbClr val="1F7665">
              <a:alpha val="1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2E9C0E2-DC62-4FEE-AEE2-648E278A3AB9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F7665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EA2FCD-5C78-4A04-B780-5FEC872EC81D}"/>
              </a:ext>
            </a:extLst>
          </p:cNvPr>
          <p:cNvSpPr>
            <a:spLocks noGrp="1"/>
          </p:cNvSpPr>
          <p:nvPr/>
        </p:nvSpPr>
        <p:spPr>
          <a:xfrm>
            <a:off x="1200150" y="255270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1. Réservation bloquée trop tôt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18CB4-EFE8-4203-957B-1328BD1F8506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code refusait encore de modifier la réservation alors qu’elle venait d’arriver. On perdait de la souplesse sur une opération courante.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D3C25C-660D-46C3-B551-97278715476F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971800" cy="9525"/>
          </a:xfrm>
          <a:prstGeom prst="rect">
            <a:avLst/>
          </a:prstGeom>
          <a:solidFill>
            <a:srgbClr val="443427">
              <a:alpha val="12000"/>
            </a:srgbClr>
          </a:solidFill>
          <a:ln w="0">
            <a:solidFill>
              <a:srgbClr val="443427">
                <a:alpha val="1200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8680B-ABAD-447D-81DF-13937DA22514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C941ED-3114-454A-BEDC-5D5906F6DC4D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31F1B"/>
                </a:solidFill>
                <a:latin typeface="Aptos"/>
                <a:ea typeface="Aptos"/>
                <a:cs typeface="Aptos"/>
              </a:rPr>
              <a:t>J’ai séparé les champs client et les options. Après check-in, seule la partie opérationnelle reste ouverte.</a:t>
            </a:r>
          </a:p>
        </p:txBody>
      </p:sp>
      <p:sp>
        <p:nvSpPr>
          <p:cNvPr id="16" name="code-line">
            <a:extLst>
              <a:ext uri="{FF2B5EF4-FFF2-40B4-BE49-F238E27FC236}">
                <a16:creationId xmlns:a16="http://schemas.microsoft.com/office/drawing/2014/main" id="{568496DF-153A-458D-A8DD-43F09B312D0D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F5C15B27-5AA3-44F5-BCD0-2825ED974C8C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if (status === 'arrive') {</a:t>
            </a:r>
          </a:p>
        </p:txBody>
      </p:sp>
      <p:sp>
        <p:nvSpPr>
          <p:cNvPr id="18" name="code-line">
            <a:extLst>
              <a:ext uri="{FF2B5EF4-FFF2-40B4-BE49-F238E27FC236}">
                <a16:creationId xmlns:a16="http://schemas.microsoft.com/office/drawing/2014/main" id="{28A3D927-3AEA-47A8-95DD-B2A12E2CE863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19" name="code-text">
            <a:extLst>
              <a:ext uri="{FF2B5EF4-FFF2-40B4-BE49-F238E27FC236}">
                <a16:creationId xmlns:a16="http://schemas.microsoft.com/office/drawing/2014/main" id="{0BE9F514-F1EC-46D7-8ED5-FC2601DF60D3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allowRoomChanges = true;</a:t>
            </a:r>
          </a:p>
        </p:txBody>
      </p:sp>
      <p:sp>
        <p:nvSpPr>
          <p:cNvPr id="20" name="code-line">
            <a:extLst>
              <a:ext uri="{FF2B5EF4-FFF2-40B4-BE49-F238E27FC236}">
                <a16:creationId xmlns:a16="http://schemas.microsoft.com/office/drawing/2014/main" id="{01918C08-263D-47CF-9BC8-9D5251E3ED55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21" name="code-text">
            <a:extLst>
              <a:ext uri="{FF2B5EF4-FFF2-40B4-BE49-F238E27FC236}">
                <a16:creationId xmlns:a16="http://schemas.microsoft.com/office/drawing/2014/main" id="{49EE2A5F-B953-4E7A-B45D-150173EB585A}"/>
              </a:ext>
            </a:extLst>
          </p:cNvPr>
          <p:cNvSpPr>
            <a:spLocks noGrp="1"/>
          </p:cNvSpPr>
          <p:nvPr/>
        </p:nvSpPr>
        <p:spPr>
          <a:xfrm>
            <a:off x="895350" y="516255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allowGuestEdit = false;</a:t>
            </a:r>
          </a:p>
        </p:txBody>
      </p:sp>
      <p:sp>
        <p:nvSpPr>
          <p:cNvPr id="22" name="code-line">
            <a:extLst>
              <a:ext uri="{FF2B5EF4-FFF2-40B4-BE49-F238E27FC236}">
                <a16:creationId xmlns:a16="http://schemas.microsoft.com/office/drawing/2014/main" id="{42EB6C71-A69E-45D4-A547-74A088FACF8F}"/>
              </a:ext>
            </a:extLst>
          </p:cNvPr>
          <p:cNvSpPr>
            <a:spLocks noGrp="1"/>
          </p:cNvSpPr>
          <p:nvPr/>
        </p:nvSpPr>
        <p:spPr>
          <a:xfrm>
            <a:off x="781050" y="537210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23" name="code-text">
            <a:extLst>
              <a:ext uri="{FF2B5EF4-FFF2-40B4-BE49-F238E27FC236}">
                <a16:creationId xmlns:a16="http://schemas.microsoft.com/office/drawing/2014/main" id="{05A4A296-34BB-4007-B47E-902A0F9778AD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4" name="card">
            <a:extLst>
              <a:ext uri="{FF2B5EF4-FFF2-40B4-BE49-F238E27FC236}">
                <a16:creationId xmlns:a16="http://schemas.microsoft.com/office/drawing/2014/main" id="{D3534B45-C7A3-4A53-AA5E-669AFAEF5F4B}"/>
              </a:ext>
            </a:extLst>
          </p:cNvPr>
          <p:cNvSpPr>
            <a:spLocks noGrp="1"/>
          </p:cNvSpPr>
          <p:nvPr/>
        </p:nvSpPr>
        <p:spPr>
          <a:xfrm>
            <a:off x="4181475" y="2333625"/>
            <a:ext cx="3314700" cy="3181350"/>
          </a:xfrm>
          <a:prstGeom prst="roundRect">
            <a:avLst>
              <a:gd name="adj" fmla="val 239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8D753FD-84E0-4923-A488-B7808A6B6095}"/>
              </a:ext>
            </a:extLst>
          </p:cNvPr>
          <p:cNvSpPr>
            <a:spLocks noGrp="1"/>
          </p:cNvSpPr>
          <p:nvPr/>
        </p:nvSpPr>
        <p:spPr>
          <a:xfrm>
            <a:off x="4352925" y="25146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31F1B">
              <a:alpha val="8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1746EC-8164-4C41-9E87-F0167F536B9D}"/>
              </a:ext>
            </a:extLst>
          </p:cNvPr>
          <p:cNvSpPr>
            <a:spLocks noGrp="1"/>
          </p:cNvSpPr>
          <p:nvPr/>
        </p:nvSpPr>
        <p:spPr>
          <a:xfrm>
            <a:off x="4772025" y="255270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2. Aucune trace exploitable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E0C1B-4016-42BF-9D05-1C1BB0D27BCC}"/>
              </a:ext>
            </a:extLst>
          </p:cNvPr>
          <p:cNvSpPr>
            <a:spLocks noGrp="1"/>
          </p:cNvSpPr>
          <p:nvPr/>
        </p:nvSpPr>
        <p:spPr>
          <a:xfrm>
            <a:off x="4352925" y="30099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Les actions existaient dans le flux, mais on ne savait pas clairement qui avait pris le paiement, validé le check-in ou modifié le dossier.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000C16-56E9-42A1-B08B-CBA2167A46CB}"/>
              </a:ext>
            </a:extLst>
          </p:cNvPr>
          <p:cNvSpPr>
            <a:spLocks noGrp="1"/>
          </p:cNvSpPr>
          <p:nvPr/>
        </p:nvSpPr>
        <p:spPr>
          <a:xfrm>
            <a:off x="4352925" y="3676650"/>
            <a:ext cx="2971800" cy="9525"/>
          </a:xfrm>
          <a:prstGeom prst="rect">
            <a:avLst/>
          </a:prstGeom>
          <a:solidFill>
            <a:srgbClr val="443427">
              <a:alpha val="12000"/>
            </a:srgbClr>
          </a:solidFill>
          <a:ln w="0">
            <a:solidFill>
              <a:srgbClr val="443427">
                <a:alpha val="1200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D27D2F-B2F6-45B8-8D2D-F9E9CFB8383E}"/>
              </a:ext>
            </a:extLst>
          </p:cNvPr>
          <p:cNvSpPr>
            <a:spLocks noGrp="1"/>
          </p:cNvSpPr>
          <p:nvPr/>
        </p:nvSpPr>
        <p:spPr>
          <a:xfrm>
            <a:off x="4352925" y="37909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B8F9ED-4981-4994-8BB0-11EB849CC174}"/>
              </a:ext>
            </a:extLst>
          </p:cNvPr>
          <p:cNvSpPr>
            <a:spLocks noGrp="1"/>
          </p:cNvSpPr>
          <p:nvPr/>
        </p:nvSpPr>
        <p:spPr>
          <a:xfrm>
            <a:off x="4352925" y="400050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31F1B"/>
                </a:solidFill>
                <a:latin typeface="Aptos"/>
                <a:ea typeface="Aptos"/>
                <a:cs typeface="Aptos"/>
              </a:rPr>
              <a:t>J’ai ajouté une table d’audit et branché les contrôleurs dessus pour enregistrer l’auteur, le rôle et les détails.</a:t>
            </a:r>
          </a:p>
        </p:txBody>
      </p:sp>
      <p:sp>
        <p:nvSpPr>
          <p:cNvPr id="31" name="code-line">
            <a:extLst>
              <a:ext uri="{FF2B5EF4-FFF2-40B4-BE49-F238E27FC236}">
                <a16:creationId xmlns:a16="http://schemas.microsoft.com/office/drawing/2014/main" id="{5B671335-9A3E-43D8-B30F-414EBA28E91E}"/>
              </a:ext>
            </a:extLst>
          </p:cNvPr>
          <p:cNvSpPr>
            <a:spLocks noGrp="1"/>
          </p:cNvSpPr>
          <p:nvPr/>
        </p:nvSpPr>
        <p:spPr>
          <a:xfrm>
            <a:off x="4352925" y="462915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32" name="code-text">
            <a:extLst>
              <a:ext uri="{FF2B5EF4-FFF2-40B4-BE49-F238E27FC236}">
                <a16:creationId xmlns:a16="http://schemas.microsoft.com/office/drawing/2014/main" id="{1B8AC978-4558-4995-A38B-956A3F431E33}"/>
              </a:ext>
            </a:extLst>
          </p:cNvPr>
          <p:cNvSpPr>
            <a:spLocks noGrp="1"/>
          </p:cNvSpPr>
          <p:nvPr/>
        </p:nvSpPr>
        <p:spPr>
          <a:xfrm>
            <a:off x="4467225" y="466725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ReservationAudit::create([</a:t>
            </a:r>
          </a:p>
        </p:txBody>
      </p:sp>
      <p:sp>
        <p:nvSpPr>
          <p:cNvPr id="33" name="code-line">
            <a:extLst>
              <a:ext uri="{FF2B5EF4-FFF2-40B4-BE49-F238E27FC236}">
                <a16:creationId xmlns:a16="http://schemas.microsoft.com/office/drawing/2014/main" id="{436056E9-23A0-4BC3-883D-0EEE0FFDA65E}"/>
              </a:ext>
            </a:extLst>
          </p:cNvPr>
          <p:cNvSpPr>
            <a:spLocks noGrp="1"/>
          </p:cNvSpPr>
          <p:nvPr/>
        </p:nvSpPr>
        <p:spPr>
          <a:xfrm>
            <a:off x="4352925" y="487680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34" name="code-text">
            <a:extLst>
              <a:ext uri="{FF2B5EF4-FFF2-40B4-BE49-F238E27FC236}">
                <a16:creationId xmlns:a16="http://schemas.microsoft.com/office/drawing/2014/main" id="{DA8A85F5-C2B8-4257-831A-7AF9B4641B1B}"/>
              </a:ext>
            </a:extLst>
          </p:cNvPr>
          <p:cNvSpPr>
            <a:spLocks noGrp="1"/>
          </p:cNvSpPr>
          <p:nvPr/>
        </p:nvSpPr>
        <p:spPr>
          <a:xfrm>
            <a:off x="4467225" y="491490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'action' =&gt; 'payment',</a:t>
            </a:r>
          </a:p>
        </p:txBody>
      </p:sp>
      <p:sp>
        <p:nvSpPr>
          <p:cNvPr id="35" name="code-line">
            <a:extLst>
              <a:ext uri="{FF2B5EF4-FFF2-40B4-BE49-F238E27FC236}">
                <a16:creationId xmlns:a16="http://schemas.microsoft.com/office/drawing/2014/main" id="{E79E8C03-A880-4F91-94D7-5698C12801D0}"/>
              </a:ext>
            </a:extLst>
          </p:cNvPr>
          <p:cNvSpPr>
            <a:spLocks noGrp="1"/>
          </p:cNvSpPr>
          <p:nvPr/>
        </p:nvSpPr>
        <p:spPr>
          <a:xfrm>
            <a:off x="4352925" y="512445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36" name="code-text">
            <a:extLst>
              <a:ext uri="{FF2B5EF4-FFF2-40B4-BE49-F238E27FC236}">
                <a16:creationId xmlns:a16="http://schemas.microsoft.com/office/drawing/2014/main" id="{A13CE6BA-567E-4664-A479-8CD55FF74BFE}"/>
              </a:ext>
            </a:extLst>
          </p:cNvPr>
          <p:cNvSpPr>
            <a:spLocks noGrp="1"/>
          </p:cNvSpPr>
          <p:nvPr/>
        </p:nvSpPr>
        <p:spPr>
          <a:xfrm>
            <a:off x="4467225" y="516255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  'actor_name' =&gt; $user,</a:t>
            </a:r>
          </a:p>
        </p:txBody>
      </p:sp>
      <p:sp>
        <p:nvSpPr>
          <p:cNvPr id="37" name="code-line">
            <a:extLst>
              <a:ext uri="{FF2B5EF4-FFF2-40B4-BE49-F238E27FC236}">
                <a16:creationId xmlns:a16="http://schemas.microsoft.com/office/drawing/2014/main" id="{0CB7619C-D6BE-4297-BD9C-7BD9E7F94862}"/>
              </a:ext>
            </a:extLst>
          </p:cNvPr>
          <p:cNvSpPr>
            <a:spLocks noGrp="1"/>
          </p:cNvSpPr>
          <p:nvPr/>
        </p:nvSpPr>
        <p:spPr>
          <a:xfrm>
            <a:off x="4352925" y="537210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38" name="code-text">
            <a:extLst>
              <a:ext uri="{FF2B5EF4-FFF2-40B4-BE49-F238E27FC236}">
                <a16:creationId xmlns:a16="http://schemas.microsoft.com/office/drawing/2014/main" id="{70601886-F5FE-4128-A89F-811C90D0DED0}"/>
              </a:ext>
            </a:extLst>
          </p:cNvPr>
          <p:cNvSpPr>
            <a:spLocks noGrp="1"/>
          </p:cNvSpPr>
          <p:nvPr/>
        </p:nvSpPr>
        <p:spPr>
          <a:xfrm>
            <a:off x="4467225" y="541020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]);</a:t>
            </a:r>
          </a:p>
        </p:txBody>
      </p:sp>
      <p:sp>
        <p:nvSpPr>
          <p:cNvPr id="39" name="card">
            <a:extLst>
              <a:ext uri="{FF2B5EF4-FFF2-40B4-BE49-F238E27FC236}">
                <a16:creationId xmlns:a16="http://schemas.microsoft.com/office/drawing/2014/main" id="{86980346-5DF2-4143-93D3-1ED0C665FCBF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3314700" cy="3181350"/>
          </a:xfrm>
          <a:prstGeom prst="roundRect">
            <a:avLst>
              <a:gd name="adj" fmla="val 2395"/>
            </a:avLst>
          </a:prstGeom>
          <a:solidFill>
            <a:srgbClr val="231F1B">
              <a:alpha val="5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58E5386C-F95A-46F5-89CE-4F54E36D83EC}"/>
              </a:ext>
            </a:extLst>
          </p:cNvPr>
          <p:cNvSpPr>
            <a:spLocks noGrp="1"/>
          </p:cNvSpPr>
          <p:nvPr/>
        </p:nvSpPr>
        <p:spPr>
          <a:xfrm>
            <a:off x="7924800" y="25146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BE123C">
              <a:alpha val="9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58E250-2583-400C-850E-2AB9ED59FEE7}"/>
              </a:ext>
            </a:extLst>
          </p:cNvPr>
          <p:cNvSpPr>
            <a:spLocks noGrp="1"/>
          </p:cNvSpPr>
          <p:nvPr/>
        </p:nvSpPr>
        <p:spPr>
          <a:xfrm>
            <a:off x="8343900" y="255270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3. Dashboard trop vague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CB7088-C794-4404-8DA7-348532F7400E}"/>
              </a:ext>
            </a:extLst>
          </p:cNvPr>
          <p:cNvSpPr>
            <a:spLocks noGrp="1"/>
          </p:cNvSpPr>
          <p:nvPr/>
        </p:nvSpPr>
        <p:spPr>
          <a:xfrm>
            <a:off x="7924800" y="30099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Un statut unique ne suffisait pas. Il fallait voir check-in, paiement, acompte, total et reste à payer sans deviner.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0CE432-1158-4B46-A40B-E75DF35E8360}"/>
              </a:ext>
            </a:extLst>
          </p:cNvPr>
          <p:cNvSpPr>
            <a:spLocks noGrp="1"/>
          </p:cNvSpPr>
          <p:nvPr/>
        </p:nvSpPr>
        <p:spPr>
          <a:xfrm>
            <a:off x="7924800" y="3676650"/>
            <a:ext cx="2971800" cy="9525"/>
          </a:xfrm>
          <a:prstGeom prst="rect">
            <a:avLst/>
          </a:prstGeom>
          <a:solidFill>
            <a:srgbClr val="443427">
              <a:alpha val="12000"/>
            </a:srgbClr>
          </a:solidFill>
          <a:ln w="0">
            <a:solidFill>
              <a:srgbClr val="443427">
                <a:alpha val="12000"/>
              </a:srgbClr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2698C9-E1A2-4AB8-99D0-4A52FBCEF031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6048A00-1EB3-4C22-93C9-15C0C4771ACA}"/>
              </a:ext>
            </a:extLst>
          </p:cNvPr>
          <p:cNvSpPr>
            <a:spLocks noGrp="1"/>
          </p:cNvSpPr>
          <p:nvPr/>
        </p:nvSpPr>
        <p:spPr>
          <a:xfrm>
            <a:off x="7924800" y="4000500"/>
            <a:ext cx="2971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31F1B"/>
                </a:solidFill>
                <a:latin typeface="Aptos"/>
                <a:ea typeface="Aptos"/>
                <a:cs typeface="Aptos"/>
              </a:rPr>
              <a:t>J’ai éclaté l’affichage en colonnes concrètes et ajouté le tri sur l’historique complet.</a:t>
            </a:r>
          </a:p>
        </p:txBody>
      </p:sp>
      <p:sp>
        <p:nvSpPr>
          <p:cNvPr id="46" name="code-line">
            <a:extLst>
              <a:ext uri="{FF2B5EF4-FFF2-40B4-BE49-F238E27FC236}">
                <a16:creationId xmlns:a16="http://schemas.microsoft.com/office/drawing/2014/main" id="{237A030E-9560-41FC-BB31-218CC5FD369C}"/>
              </a:ext>
            </a:extLst>
          </p:cNvPr>
          <p:cNvSpPr>
            <a:spLocks noGrp="1"/>
          </p:cNvSpPr>
          <p:nvPr/>
        </p:nvSpPr>
        <p:spPr>
          <a:xfrm>
            <a:off x="7924800" y="462915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47" name="code-text">
            <a:extLst>
              <a:ext uri="{FF2B5EF4-FFF2-40B4-BE49-F238E27FC236}">
                <a16:creationId xmlns:a16="http://schemas.microsoft.com/office/drawing/2014/main" id="{05FD1648-25D3-4CCB-B791-CC1A13E5DD0C}"/>
              </a:ext>
            </a:extLst>
          </p:cNvPr>
          <p:cNvSpPr>
            <a:spLocks noGrp="1"/>
          </p:cNvSpPr>
          <p:nvPr/>
        </p:nvSpPr>
        <p:spPr>
          <a:xfrm>
            <a:off x="8039100" y="466725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sortClientHistoryByKey('balance_amount_ariary')</a:t>
            </a:r>
          </a:p>
        </p:txBody>
      </p:sp>
      <p:sp>
        <p:nvSpPr>
          <p:cNvPr id="48" name="code-line">
            <a:extLst>
              <a:ext uri="{FF2B5EF4-FFF2-40B4-BE49-F238E27FC236}">
                <a16:creationId xmlns:a16="http://schemas.microsoft.com/office/drawing/2014/main" id="{88131C21-D3FA-4AF4-BF37-C9D23E96282A}"/>
              </a:ext>
            </a:extLst>
          </p:cNvPr>
          <p:cNvSpPr>
            <a:spLocks noGrp="1"/>
          </p:cNvSpPr>
          <p:nvPr/>
        </p:nvSpPr>
        <p:spPr>
          <a:xfrm>
            <a:off x="7924800" y="4876800"/>
            <a:ext cx="2971800" cy="209550"/>
          </a:xfrm>
          <a:prstGeom prst="roundRect">
            <a:avLst>
              <a:gd name="adj" fmla="val 36364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49" name="code-text">
            <a:extLst>
              <a:ext uri="{FF2B5EF4-FFF2-40B4-BE49-F238E27FC236}">
                <a16:creationId xmlns:a16="http://schemas.microsoft.com/office/drawing/2014/main" id="{10855E3E-B2C7-4F4D-972E-177070B4766F}"/>
              </a:ext>
            </a:extLst>
          </p:cNvPr>
          <p:cNvSpPr>
            <a:spLocks noGrp="1"/>
          </p:cNvSpPr>
          <p:nvPr/>
        </p:nvSpPr>
        <p:spPr>
          <a:xfrm>
            <a:off x="8039100" y="4914900"/>
            <a:ext cx="2743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8F1E7"/>
                </a:solidFill>
                <a:latin typeface="Aptos Mono"/>
                <a:ea typeface="Aptos Mono"/>
                <a:cs typeface="Aptos Mono"/>
              </a:rPr>
              <a:t>sortClientHistoryByKey('check_in_date')</a:t>
            </a:r>
          </a:p>
        </p:txBody>
      </p:sp>
      <p:sp>
        <p:nvSpPr>
          <p:cNvPr id="50" name="card">
            <a:extLst>
              <a:ext uri="{FF2B5EF4-FFF2-40B4-BE49-F238E27FC236}">
                <a16:creationId xmlns:a16="http://schemas.microsoft.com/office/drawing/2014/main" id="{3273342B-0C97-47E5-A483-A8052759481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877550" cy="438150"/>
          </a:xfrm>
          <a:prstGeom prst="roundRect">
            <a:avLst>
              <a:gd name="adj" fmla="val 17391"/>
            </a:avLst>
          </a:prstGeom>
          <a:solidFill>
            <a:srgbClr val="F7EFE3">
              <a:alpha val="96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51" name="Lecture rapide-head">
            <a:extLst>
              <a:ext uri="{FF2B5EF4-FFF2-40B4-BE49-F238E27FC236}">
                <a16:creationId xmlns:a16="http://schemas.microsoft.com/office/drawing/2014/main" id="{8F2CC673-85CE-4BDD-B603-FA0BB19785E3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1057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Lecture rapide</a:t>
            </a:r>
          </a:p>
        </p:txBody>
      </p:sp>
      <p:sp>
        <p:nvSpPr>
          <p:cNvPr id="52" name="Lecture rapide-body">
            <a:extLst>
              <a:ext uri="{FF2B5EF4-FFF2-40B4-BE49-F238E27FC236}">
                <a16:creationId xmlns:a16="http://schemas.microsoft.com/office/drawing/2014/main" id="{227966F6-70D3-454E-BBFE-FCD7381E6765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1057275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Chaque correction répond à un vrai angle mort: règles d’édition, traçabilité, ou lisibilité métier.</a:t>
            </a:r>
          </a:p>
        </p:txBody>
      </p:sp>
      <p:sp>
        <p:nvSpPr>
          <p:cNvPr id="53" name="footer-rule">
            <a:extLst>
              <a:ext uri="{FF2B5EF4-FFF2-40B4-BE49-F238E27FC236}">
                <a16:creationId xmlns:a16="http://schemas.microsoft.com/office/drawing/2014/main" id="{69584D4F-DAD9-4667-B290-D5CE95D52B9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443427">
              <a:alpha val="10000"/>
            </a:srgbClr>
          </a:solidFill>
          <a:ln w="0">
            <a:solidFill>
              <a:srgbClr val="443427">
                <a:alpha val="10000"/>
              </a:srgbClr>
            </a:solidFill>
          </a:ln>
        </p:spPr>
      </p:sp>
      <p:sp>
        <p:nvSpPr>
          <p:cNvPr id="54" name="footer-label">
            <a:extLst>
              <a:ext uri="{FF2B5EF4-FFF2-40B4-BE49-F238E27FC236}">
                <a16:creationId xmlns:a16="http://schemas.microsoft.com/office/drawing/2014/main" id="{E1662064-A90D-4E30-851B-594D6873D993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228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55" name="footer-mode">
            <a:extLst>
              <a:ext uri="{FF2B5EF4-FFF2-40B4-BE49-F238E27FC236}">
                <a16:creationId xmlns:a16="http://schemas.microsoft.com/office/drawing/2014/main" id="{C6A04D3A-E2D4-46E3-92E6-BFFFA736F739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visuelle</a:t>
            </a:r>
          </a:p>
        </p:txBody>
      </p:sp>
      <p:pic>
        <p:nvPicPr>
          <p:cNvPr id="56" name="Graphique 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57250" y="2590800"/>
            <a:ext cx="171450" cy="171450"/>
          </a:xfrm>
          <a:prstGeom prst="rect">
            <a:avLst/>
          </a:prstGeom>
        </p:spPr>
      </p:pic>
      <p:pic>
        <p:nvPicPr>
          <p:cNvPr id="57" name="Graphique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29125" y="2590800"/>
            <a:ext cx="171450" cy="171450"/>
          </a:xfrm>
          <a:prstGeom prst="rect">
            <a:avLst/>
          </a:prstGeom>
        </p:spPr>
      </p:pic>
      <p:pic>
        <p:nvPicPr>
          <p:cNvPr id="58" name="Graphique 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01000" y="2590800"/>
            <a:ext cx="171450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g">
            <a:extLst>
              <a:ext uri="{FF2B5EF4-FFF2-40B4-BE49-F238E27FC236}">
                <a16:creationId xmlns:a16="http://schemas.microsoft.com/office/drawing/2014/main" id="{4A8CA54A-5504-4507-89C0-D8CD328EFC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EA"/>
          </a:solidFill>
          <a:ln w="0">
            <a:solidFill>
              <a:srgbClr val="FBF4EA"/>
            </a:solidFill>
          </a:ln>
        </p:spPr>
      </p:sp>
      <p:sp>
        <p:nvSpPr>
          <p:cNvPr id="2" name="orb-a">
            <a:extLst>
              <a:ext uri="{FF2B5EF4-FFF2-40B4-BE49-F238E27FC236}">
                <a16:creationId xmlns:a16="http://schemas.microsoft.com/office/drawing/2014/main" id="{F1493821-492D-4005-B5FE-2AB4382C1659}"/>
              </a:ext>
            </a:extLst>
          </p:cNvPr>
          <p:cNvSpPr>
            <a:spLocks noGrp="1"/>
          </p:cNvSpPr>
          <p:nvPr/>
        </p:nvSpPr>
        <p:spPr>
          <a:xfrm>
            <a:off x="-1143000" y="-857250"/>
            <a:ext cx="4953000" cy="3048000"/>
          </a:xfrm>
          <a:prstGeom prst="ellipse">
            <a:avLst/>
          </a:prstGeom>
          <a:solidFill>
            <a:srgbClr val="1F7665">
              <a:alpha val="7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3" name="orb-b">
            <a:extLst>
              <a:ext uri="{FF2B5EF4-FFF2-40B4-BE49-F238E27FC236}">
                <a16:creationId xmlns:a16="http://schemas.microsoft.com/office/drawing/2014/main" id="{2B7236C6-31FD-47FD-8B6A-F7FEB61B881F}"/>
              </a:ext>
            </a:extLst>
          </p:cNvPr>
          <p:cNvSpPr>
            <a:spLocks noGrp="1"/>
          </p:cNvSpPr>
          <p:nvPr/>
        </p:nvSpPr>
        <p:spPr>
          <a:xfrm>
            <a:off x="7810500" y="-952500"/>
            <a:ext cx="4953000" cy="3048000"/>
          </a:xfrm>
          <a:prstGeom prst="ellipse">
            <a:avLst/>
          </a:prstGeom>
          <a:solidFill>
            <a:srgbClr val="443427">
              <a:alpha val="6000"/>
            </a:srgbClr>
          </a:solidFill>
          <a:ln w="0">
            <a:solidFill>
              <a:srgbClr val="443427">
                <a:alpha val="0"/>
              </a:srgbClr>
            </a:solidFill>
          </a:ln>
        </p:spPr>
      </p:sp>
      <p:sp>
        <p:nvSpPr>
          <p:cNvPr id="4" name="orb-c">
            <a:extLst>
              <a:ext uri="{FF2B5EF4-FFF2-40B4-BE49-F238E27FC236}">
                <a16:creationId xmlns:a16="http://schemas.microsoft.com/office/drawing/2014/main" id="{B60E5F45-E6A9-446C-BACC-4BC58775C1A8}"/>
              </a:ext>
            </a:extLst>
          </p:cNvPr>
          <p:cNvSpPr>
            <a:spLocks noGrp="1"/>
          </p:cNvSpPr>
          <p:nvPr/>
        </p:nvSpPr>
        <p:spPr>
          <a:xfrm>
            <a:off x="8763000" y="4476750"/>
            <a:ext cx="4000500" cy="2476500"/>
          </a:xfrm>
          <a:prstGeom prst="ellipse">
            <a:avLst/>
          </a:prstGeom>
          <a:solidFill>
            <a:srgbClr val="1F7665">
              <a:alpha val="5000"/>
            </a:srgbClr>
          </a:solidFill>
          <a:ln w="0">
            <a:solidFill>
              <a:srgbClr val="1F7665">
                <a:alpha val="0"/>
              </a:srgbClr>
            </a:solidFill>
          </a:ln>
        </p:spPr>
      </p:sp>
      <p:sp>
        <p:nvSpPr>
          <p:cNvPr id="5" name="kicker-dot">
            <a:extLst>
              <a:ext uri="{FF2B5EF4-FFF2-40B4-BE49-F238E27FC236}">
                <a16:creationId xmlns:a16="http://schemas.microsoft.com/office/drawing/2014/main" id="{752B0881-9447-4095-AEB8-55888A21405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66675" cy="66675"/>
          </a:xfrm>
          <a:prstGeom prst="ellipse">
            <a:avLst/>
          </a:prstGeom>
          <a:solidFill>
            <a:srgbClr val="1F7665"/>
          </a:solidFill>
          <a:ln w="0">
            <a:solidFill>
              <a:srgbClr val="1F7665"/>
            </a:solidFill>
          </a:ln>
        </p:spPr>
      </p:sp>
      <p:sp>
        <p:nvSpPr>
          <p:cNvPr id="6" name="kicker-text">
            <a:extLst>
              <a:ext uri="{FF2B5EF4-FFF2-40B4-BE49-F238E27FC236}">
                <a16:creationId xmlns:a16="http://schemas.microsoft.com/office/drawing/2014/main" id="{6613D641-4B79-437F-9491-6252BA0E01BC}"/>
              </a:ext>
            </a:extLst>
          </p:cNvPr>
          <p:cNvSpPr>
            <a:spLocks noGrp="1"/>
          </p:cNvSpPr>
          <p:nvPr/>
        </p:nvSpPr>
        <p:spPr>
          <a:xfrm>
            <a:off x="762000" y="438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RÉSULTAT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9C33EA78-22FD-4D59-80AB-A98BF1DD62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048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2550" b="1">
                <a:solidFill>
                  <a:srgbClr val="231F1B"/>
                </a:solidFill>
                <a:latin typeface="Cormorant Garamond"/>
                <a:ea typeface="Cormorant Garamond"/>
                <a:cs typeface="Cormorant Garamond"/>
              </a:rPr>
              <a:t>Le système raconte enfin le séjour au lieu de juste stocker des lignes.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613FEA1-EEE1-463A-BDE2-F0D1B7DCA375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7048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On a un parcours plus sûr pour l’équipe, une lecture plus claire pour le dashboard, et un historique qui sert vraiment quand il faut vérifier.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7B9D7528-C4A3-4C57-8924-7AEE23BB7475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1A17D20-4BC6-42E2-902D-78110C5BC017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323850" cy="323850"/>
          </a:xfrm>
          <a:prstGeom prst="ellipse">
            <a:avLst/>
          </a:prstGeom>
          <a:solidFill>
            <a:srgbClr val="1F7665">
              <a:alpha val="12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CEDBFB-3271-4C83-B834-661CBF2BFE46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Plus sûr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5CE240-F67A-4D98-ADFB-298BE448D60A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240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L’édition post check-in reste possible, mais dans un cadre propre.</a:t>
            </a:r>
          </a:p>
        </p:txBody>
      </p:sp>
      <p:sp>
        <p:nvSpPr>
          <p:cNvPr id="13" name="card">
            <a:extLst>
              <a:ext uri="{FF2B5EF4-FFF2-40B4-BE49-F238E27FC236}">
                <a16:creationId xmlns:a16="http://schemas.microsoft.com/office/drawing/2014/main" id="{6E635972-0782-4A18-961D-BEDF4FCEE7A1}"/>
              </a:ext>
            </a:extLst>
          </p:cNvPr>
          <p:cNvSpPr>
            <a:spLocks noGrp="1"/>
          </p:cNvSpPr>
          <p:nvPr/>
        </p:nvSpPr>
        <p:spPr>
          <a:xfrm>
            <a:off x="4000500" y="236220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1F7665">
              <a:alpha val="8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2DB842E-851F-4590-BA3F-79458D7F55BD}"/>
              </a:ext>
            </a:extLst>
          </p:cNvPr>
          <p:cNvSpPr>
            <a:spLocks noGrp="1"/>
          </p:cNvSpPr>
          <p:nvPr/>
        </p:nvSpPr>
        <p:spPr>
          <a:xfrm>
            <a:off x="4191000" y="2552700"/>
            <a:ext cx="323850" cy="323850"/>
          </a:xfrm>
          <a:prstGeom prst="ellipse">
            <a:avLst/>
          </a:prstGeom>
          <a:solidFill>
            <a:srgbClr val="1F7665">
              <a:alpha val="14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90E4F-AAAE-44EF-8C8D-A54DEFF4922A}"/>
              </a:ext>
            </a:extLst>
          </p:cNvPr>
          <p:cNvSpPr>
            <a:spLocks noGrp="1"/>
          </p:cNvSpPr>
          <p:nvPr/>
        </p:nvSpPr>
        <p:spPr>
          <a:xfrm>
            <a:off x="4648200" y="25527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Plus lisible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D62545-B44C-44B4-9F2C-0AF08CB274F8}"/>
              </a:ext>
            </a:extLst>
          </p:cNvPr>
          <p:cNvSpPr>
            <a:spLocks noGrp="1"/>
          </p:cNvSpPr>
          <p:nvPr/>
        </p:nvSpPr>
        <p:spPr>
          <a:xfrm>
            <a:off x="4191000" y="2990850"/>
            <a:ext cx="240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Check-in, paiement, acompte et reste à payer apparaissent séparément.</a:t>
            </a:r>
          </a:p>
        </p:txBody>
      </p:sp>
      <p:sp>
        <p:nvSpPr>
          <p:cNvPr id="17" name="card">
            <a:extLst>
              <a:ext uri="{FF2B5EF4-FFF2-40B4-BE49-F238E27FC236}">
                <a16:creationId xmlns:a16="http://schemas.microsoft.com/office/drawing/2014/main" id="{EBF1FF9C-C1D3-420C-B322-AAF84A180F78}"/>
              </a:ext>
            </a:extLst>
          </p:cNvPr>
          <p:cNvSpPr>
            <a:spLocks noGrp="1"/>
          </p:cNvSpPr>
          <p:nvPr/>
        </p:nvSpPr>
        <p:spPr>
          <a:xfrm>
            <a:off x="7391400" y="236220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18847D6-C6F6-4758-8716-8C0816AD20A8}"/>
              </a:ext>
            </a:extLst>
          </p:cNvPr>
          <p:cNvSpPr>
            <a:spLocks noGrp="1"/>
          </p:cNvSpPr>
          <p:nvPr/>
        </p:nvSpPr>
        <p:spPr>
          <a:xfrm>
            <a:off x="7581900" y="2552700"/>
            <a:ext cx="323850" cy="323850"/>
          </a:xfrm>
          <a:prstGeom prst="ellipse">
            <a:avLst/>
          </a:prstGeom>
          <a:solidFill>
            <a:srgbClr val="BE123C">
              <a:alpha val="10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4C911-27F7-4071-A39F-3F1755541F3E}"/>
              </a:ext>
            </a:extLst>
          </p:cNvPr>
          <p:cNvSpPr>
            <a:spLocks noGrp="1"/>
          </p:cNvSpPr>
          <p:nvPr/>
        </p:nvSpPr>
        <p:spPr>
          <a:xfrm>
            <a:off x="8039100" y="25527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31F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1F1B"/>
                </a:solidFill>
                <a:latin typeface="Aptos"/>
                <a:ea typeface="Aptos"/>
                <a:cs typeface="Aptos"/>
              </a:rPr>
              <a:t>Plus traçable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954D43-E08B-4665-9348-64A741A99897}"/>
              </a:ext>
            </a:extLst>
          </p:cNvPr>
          <p:cNvSpPr>
            <a:spLocks noGrp="1"/>
          </p:cNvSpPr>
          <p:nvPr/>
        </p:nvSpPr>
        <p:spPr>
          <a:xfrm>
            <a:off x="7581900" y="2990850"/>
            <a:ext cx="240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Chaque action importante laisse une empreinte avec auteur et contexte.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271E7E8B-EE68-4B47-BF7D-181DC40E1280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10877550" cy="1200150"/>
          </a:xfrm>
          <a:prstGeom prst="roundRect">
            <a:avLst>
              <a:gd name="adj" fmla="val 6349"/>
            </a:avLst>
          </a:prstGeom>
          <a:solidFill>
            <a:srgbClr val="1F7665">
              <a:alpha val="9000"/>
            </a:srgbClr>
          </a:solidFill>
          <a:ln w="9525">
            <a:solidFill>
              <a:srgbClr val="443427">
                <a:alpha val="10000"/>
              </a:srgbClr>
            </a:solidFill>
          </a:ln>
        </p:spPr>
      </p:sp>
      <p:sp>
        <p:nvSpPr>
          <p:cNvPr id="22" name="Ce qu’il faut retenir-head">
            <a:extLst>
              <a:ext uri="{FF2B5EF4-FFF2-40B4-BE49-F238E27FC236}">
                <a16:creationId xmlns:a16="http://schemas.microsoft.com/office/drawing/2014/main" id="{3B8126E2-77CD-4F7A-95BB-8799D5ED26BA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1057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F76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665"/>
                </a:solidFill>
                <a:latin typeface="Aptos"/>
                <a:ea typeface="Aptos"/>
                <a:cs typeface="Aptos"/>
              </a:rPr>
              <a:t>Ce qu’il faut retenir</a:t>
            </a:r>
          </a:p>
        </p:txBody>
      </p:sp>
      <p:sp>
        <p:nvSpPr>
          <p:cNvPr id="23" name="Ce qu’il faut retenir-body">
            <a:extLst>
              <a:ext uri="{FF2B5EF4-FFF2-40B4-BE49-F238E27FC236}">
                <a16:creationId xmlns:a16="http://schemas.microsoft.com/office/drawing/2014/main" id="{EC1BEBAD-7A35-42E6-A27A-B0AD40B6F7BF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5727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95E"/>
                </a:solidFill>
                <a:latin typeface="Aptos"/>
                <a:ea typeface="Aptos"/>
                <a:cs typeface="Aptos"/>
              </a:rPr>
              <a:t>Le projet n’a pas cherché à empiler des écrans. Il a remis de l’ordre dans la circulation de l’information: qui agit, quand, sur quoi, et ce qui reste à faire. C’est ça qui rend l’outil exploitable au quotidien.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236264C8-6197-4AC4-96EA-1DC78381C6EC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877550" cy="457200"/>
          </a:xfrm>
          <a:prstGeom prst="roundRect">
            <a:avLst>
              <a:gd name="adj" fmla="val 16667"/>
            </a:avLst>
          </a:prstGeom>
          <a:solidFill>
            <a:srgbClr val="231F1B">
              <a:alpha val="96000"/>
            </a:srgbClr>
          </a:solidFill>
          <a:ln w="0">
            <a:solidFill>
              <a:srgbClr val="231F1B">
                <a:alpha val="9600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9EB4B9-1F6D-475E-9B16-94B4D1A9AD26}"/>
              </a:ext>
            </a:extLst>
          </p:cNvPr>
          <p:cNvSpPr>
            <a:spLocks noGrp="1"/>
          </p:cNvSpPr>
          <p:nvPr/>
        </p:nvSpPr>
        <p:spPr>
          <a:xfrm>
            <a:off x="838200" y="5495925"/>
            <a:ext cx="514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6EB"/>
                </a:solidFill>
                <a:latin typeface="Aptos"/>
                <a:ea typeface="Aptos"/>
                <a:cs typeface="Aptos"/>
              </a:rPr>
              <a:t>Si vous voulez, je peux maintenant vous montrer le parcours en démo ou passer aux questions.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27815F-7520-43F6-A53F-EB2BEAA41867}"/>
              </a:ext>
            </a:extLst>
          </p:cNvPr>
          <p:cNvSpPr>
            <a:spLocks noGrp="1"/>
          </p:cNvSpPr>
          <p:nvPr/>
        </p:nvSpPr>
        <p:spPr>
          <a:xfrm>
            <a:off x="9163050" y="54959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FFF6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6EB"/>
                </a:solidFill>
                <a:latin typeface="Aptos"/>
                <a:ea typeface="Aptos"/>
                <a:cs typeface="Aptos"/>
              </a:rPr>
              <a:t>Merci.</a:t>
            </a:r>
          </a:p>
        </p:txBody>
      </p:sp>
      <p:sp>
        <p:nvSpPr>
          <p:cNvPr id="27" name="footer-rule">
            <a:extLst>
              <a:ext uri="{FF2B5EF4-FFF2-40B4-BE49-F238E27FC236}">
                <a16:creationId xmlns:a16="http://schemas.microsoft.com/office/drawing/2014/main" id="{0C80CF30-C5F3-4FE0-98F6-33974EF0C63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9525"/>
          </a:xfrm>
          <a:prstGeom prst="rect">
            <a:avLst/>
          </a:prstGeom>
          <a:solidFill>
            <a:srgbClr val="443427">
              <a:alpha val="10000"/>
            </a:srgbClr>
          </a:solidFill>
          <a:ln w="0">
            <a:solidFill>
              <a:srgbClr val="443427">
                <a:alpha val="10000"/>
              </a:srgbClr>
            </a:solidFill>
          </a:ln>
        </p:spPr>
      </p:sp>
      <p:sp>
        <p:nvSpPr>
          <p:cNvPr id="28" name="footer-label">
            <a:extLst>
              <a:ext uri="{FF2B5EF4-FFF2-40B4-BE49-F238E27FC236}">
                <a16:creationId xmlns:a16="http://schemas.microsoft.com/office/drawing/2014/main" id="{F32AEFCC-654E-4ACE-A9F6-7FA1653D7D4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228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Hestia Predict</a:t>
            </a:r>
          </a:p>
        </p:txBody>
      </p:sp>
      <p:sp>
        <p:nvSpPr>
          <p:cNvPr id="29" name="footer-mode">
            <a:extLst>
              <a:ext uri="{FF2B5EF4-FFF2-40B4-BE49-F238E27FC236}">
                <a16:creationId xmlns:a16="http://schemas.microsoft.com/office/drawing/2014/main" id="{A87EC879-EC4C-4A87-9F06-1A6F19E9470F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569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5695E"/>
                </a:solidFill>
                <a:latin typeface="Aptos"/>
                <a:ea typeface="Aptos"/>
                <a:cs typeface="Aptos"/>
              </a:rPr>
              <a:t>Version visuelle</a:t>
            </a:r>
          </a:p>
        </p:txBody>
      </p:sp>
      <p:pic>
        <p:nvPicPr>
          <p:cNvPr id="30" name="Graphique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76300" y="2628900"/>
            <a:ext cx="171450" cy="171450"/>
          </a:xfrm>
          <a:prstGeom prst="rect">
            <a:avLst/>
          </a:prstGeom>
        </p:spPr>
      </p:pic>
      <p:pic>
        <p:nvPicPr>
          <p:cNvPr id="31" name="Graphique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67200" y="2628900"/>
            <a:ext cx="171450" cy="171450"/>
          </a:xfrm>
          <a:prstGeom prst="rect">
            <a:avLst/>
          </a:prstGeom>
        </p:spPr>
      </p:pic>
      <p:pic>
        <p:nvPicPr>
          <p:cNvPr id="32" name="Graphique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658100" y="2628900"/>
            <a:ext cx="171450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06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Microsoft Macintosh PowerPoint</Application>
  <DocSecurity>0</DocSecurity>
  <PresentationFormat>Grand écran</PresentationFormat>
  <Paragraphs>119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Mono</vt:lpstr>
      <vt:lpstr>Calibri</vt:lpstr>
      <vt:lpstr>Cormorant Garamond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Mahery RANDRIAMANAMIHANTASOA</cp:lastModifiedBy>
  <cp:revision>1</cp:revision>
  <dcterms:created xsi:type="dcterms:W3CDTF">2026-06-18T09:58:48Z</dcterms:created>
  <dcterms:modified xsi:type="dcterms:W3CDTF">2026-06-18T10:02:12Z</dcterms:modified>
</cp:coreProperties>
</file>